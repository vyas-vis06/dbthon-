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5908f35-bb7d-4881-6092-4463a38201e2}">
          <p14:sldIdLst>
            <p14:sldId id="256"/>
            <p14:sldId id="257"/>
            <p14:sldId id="258"/>
          </p14:sldIdLst>
        </p14:section>
        <p14:section name="A. Entry gate" id="{ccc5928d-1b02-76b9-f35d-5666fdefe3af}">
          <p14:sldIdLst>
            <p14:sldId id="259"/>
            <p14:sldId id="260"/>
            <p14:sldId id="261"/>
          </p14:sldIdLst>
        </p14:section>
        <p14:section name="B. During the work" id="{a8ef6382-1bb2-8ae9-50e9-9bcab329f797}">
          <p14:sldIdLst>
            <p14:sldId id="262"/>
          </p14:sldIdLst>
        </p14:section>
        <p14:section name="C. Detection by absence" id="{1c0fe3d5-9548-537a-3126-f2abeee0dd67}">
          <p14:sldIdLst>
            <p14:sldId id="263"/>
            <p14:sldId id="264"/>
          </p14:sldIdLst>
        </p14:section>
        <p14:section name="D. Money and consequences" id="{2bb2ca0b-6c31-14a4-5bcc-0cb5bbe2c2ae}">
          <p14:sldIdLst>
            <p14:sldId id="265"/>
          </p14:sldIdLst>
        </p14:section>
        <p14:section name="E. Concurrency" id="{a3d9aa45-613f-52b3-bac8-86b40235b78d}">
          <p14:sldIdLst>
            <p14:sldId id="266"/>
          </p14:sldIdLst>
        </p14:section>
        <p14:section name="F. Security" id="{19a795d6-0aea-edd3-b6ef-3cddd2241e51}">
          <p14:sldIdLst>
            <p14:sldId id="267"/>
          </p14:sldIdLst>
        </p14:section>
        <p14:section name="Wrap-up" id="{07af76e4-a194-88d2-8136-2e14400b4695}">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72C"/>
                </a:solidFill>
                <a:latin typeface="+mn-lt"/>
              </a:defRPr>
            </a:pPr>
            <a:r>
              <a:rPr sz="1400" b="0" i="0" u="none" strike="noStrike">
                <a:solidFill>
                  <a:srgbClr val="1E272C"/>
                </a:solidFill>
                <a:latin typeface="+mn-lt"/>
              </a:rPr>
              <a:t>Active invoice holds</a:t>
            </a:r>
          </a:p>
        </c:rich>
      </c:tx>
      <c:layout/>
      <c:overlay val="0"/>
    </c:title>
    <c:autoTitleDeleted val="0"/>
    <c:plotArea>
      <c:layout/>
      <c:barChart>
        <c:barDir val="col"/>
        <c:grouping val="clustered"/>
        <c:varyColors val="0"/>
        <c:ser>
          <c:idx val="0"/>
          <c:order val="0"/>
          <c:tx>
            <c:strRef>
              <c:f>Sheet1!$B$1</c:f>
              <c:strCache>
                <c:ptCount val="1"/>
                <c:pt idx="0">
                  <c:v>Before</c:v>
                </c:pt>
              </c:strCache>
            </c:strRef>
          </c:tx>
          <c:spPr>
            <a:solidFill>
              <a:srgbClr val="5B7B8A"/>
            </a:solidFill>
            <a:effectLst/>
          </c:spPr>
          <c:invertIfNegative val="0"/>
          <c:dLbls>
            <c:numFmt formatCode="#,##0" sourceLinked="0"/>
            <c:txPr>
              <a:bodyPr/>
              <a:lstStyle/>
              <a:p>
                <a:pPr>
                  <a:defRPr b="0" i="0" strike="noStrike" sz="1200" u="none">
                    <a:solidFill>
                      <a:srgbClr val="1E272C"/>
                    </a:solidFill>
                    <a:latin typeface="+mn-lt"/>
                  </a:defRPr>
                </a:pPr>
              </a:p>
            </c:txPr>
            <c:showLegendKey val="0"/>
            <c:showVal val="1"/>
            <c:showCatName val="0"/>
            <c:showSerName val="0"/>
            <c:showPercent val="0"/>
            <c:showBubbleSize val="0"/>
            <c:showLeaderLines val="0"/>
          </c:dLbls>
          <c:cat>
            <c:multiLvlStrRef>
              <c:f>Sheet1!$A$2:$A$3</c:f>
              <c:multiLvlStrCache>
                <c:ptCount val="2"/>
                <c:lvl>
                  <c:pt idx="0">
                    <c:v>This alert's holds</c:v>
                  </c:pt>
                  <c:pt idx="1">
                    <c:v>Every other hold</c:v>
                  </c:pt>
                </c:lvl>
              </c:multiLvlStrCache>
            </c:multiLvlStrRef>
          </c:cat>
          <c:val>
            <c:numRef>
              <c:f>Sheet1!$B$2:$B$3</c:f>
              <c:numCache>
                <c:formatCode>General</c:formatCode>
                <c:ptCount val="2"/>
                <c:pt idx="0">
                  <c:v>1</c:v>
                </c:pt>
                <c:pt idx="1">
                  <c:v>3</c:v>
                </c:pt>
              </c:numCache>
            </c:numRef>
          </c:val>
        </c:ser>
        <c:ser>
          <c:idx val="1"/>
          <c:order val="1"/>
          <c:tx>
            <c:strRef>
              <c:f>Sheet1!$C$1</c:f>
              <c:strCache>
                <c:ptCount val="1"/>
                <c:pt idx="0">
                  <c:v>After</c:v>
                </c:pt>
              </c:strCache>
            </c:strRef>
          </c:tx>
          <c:spPr>
            <a:solidFill>
              <a:srgbClr val="E8A317"/>
            </a:solidFill>
            <a:effectLst/>
          </c:spPr>
          <c:invertIfNegative val="0"/>
          <c:dLbls>
            <c:numFmt formatCode="#,##0" sourceLinked="0"/>
            <c:txPr>
              <a:bodyPr/>
              <a:lstStyle/>
              <a:p>
                <a:pPr>
                  <a:defRPr b="0" i="0" strike="noStrike" sz="1200" u="none">
                    <a:solidFill>
                      <a:srgbClr val="1E272C"/>
                    </a:solidFill>
                    <a:latin typeface="+mn-lt"/>
                  </a:defRPr>
                </a:pPr>
              </a:p>
            </c:txPr>
            <c:showLegendKey val="0"/>
            <c:showVal val="1"/>
            <c:showCatName val="0"/>
            <c:showSerName val="0"/>
            <c:showPercent val="0"/>
            <c:showBubbleSize val="0"/>
            <c:showLeaderLines val="0"/>
          </c:dLbls>
          <c:cat>
            <c:multiLvlStrRef>
              <c:f>Sheet1!$A$2:$A$3</c:f>
              <c:multiLvlStrCache>
                <c:ptCount val="2"/>
                <c:lvl>
                  <c:pt idx="0">
                    <c:v>This alert's holds</c:v>
                  </c:pt>
                  <c:pt idx="1">
                    <c:v>Every other hold</c:v>
                  </c:pt>
                </c:lvl>
              </c:multiLvlStrCache>
            </c:multiLvlStrRef>
          </c:cat>
          <c:val>
            <c:numRef>
              <c:f>Sheet1!$C$2:$C$3</c:f>
              <c:numCache>
                <c:formatCode>General</c:formatCode>
                <c:ptCount val="2"/>
                <c:pt idx="0">
                  <c:v>0</c:v>
                </c:pt>
                <c:pt idx="1">
                  <c:v>3</c:v>
                </c:pt>
              </c:numCache>
            </c:numRef>
          </c:val>
        </c:ser>
        <c:dLbls>
          <c:numFmt formatCode="#,##0" sourceLinked="0"/>
          <c:txPr>
            <a:bodyPr/>
            <a:lstStyle/>
            <a:p>
              <a:pPr>
                <a:defRPr b="0" i="0" strike="noStrike" sz="1200" u="none">
                  <a:solidFill>
                    <a:srgbClr val="1E272C"/>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F3E46"/>
                </a:solidFill>
                <a:latin typeface="+mn-lt"/>
              </a:defRPr>
            </a:pPr>
            <a:endParaRPr lang="en-US"/>
          </a:p>
        </c:txPr>
        <c:crossAx val="2094734552"/>
        <c:crosses val="autoZero"/>
        <c:auto val="1"/>
        <c:lblAlgn val="ctr"/>
        <c:noMultiLvlLbl val="1"/>
      </c:catAx>
      <c:valAx>
        <c:axId val="2094734552"/>
        <c:scaling>
          <c:orientation val="minMax"/>
          <c:max val="4"/>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F3E4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72C"/>
                </a:solidFill>
                <a:latin typeface="+mn-lt"/>
              </a:defRPr>
            </a:pPr>
            <a:r>
              <a:rPr sz="1300" b="0" i="0" u="none" strike="noStrike">
                <a:solidFill>
                  <a:srgbClr val="1E272C"/>
                </a:solidFill>
                <a:latin typeface="+mn-lt"/>
              </a:rPr>
              <a:t>Permits visible (of 2)</a:t>
            </a:r>
          </a:p>
        </c:rich>
      </c:tx>
      <c:layout/>
      <c:overlay val="0"/>
    </c:title>
    <c:autoTitleDeleted val="0"/>
    <c:plotArea>
      <c:layout/>
      <c:barChart>
        <c:barDir val="bar"/>
        <c:grouping val="clustered"/>
        <c:varyColors val="0"/>
        <c:ser>
          <c:idx val="0"/>
          <c:order val="0"/>
          <c:tx>
            <c:strRef>
              <c:f>Sheet1!$B$1</c:f>
              <c:strCache>
                <c:ptCount val="1"/>
                <c:pt idx="0">
                  <c:v>Permits visible</c:v>
                </c:pt>
              </c:strCache>
            </c:strRef>
          </c:tx>
          <c:spPr>
            <a:solidFill>
              <a:srgbClr val="5B7B8A"/>
            </a:solidFill>
            <a:effectLst/>
          </c:spPr>
          <c:invertIfNegative val="0"/>
          <c:dLbls>
            <c:numFmt formatCode="#,##0" sourceLinked="0"/>
            <c:txPr>
              <a:bodyPr/>
              <a:lstStyle/>
              <a:p>
                <a:pPr>
                  <a:defRPr b="0" i="0" strike="noStrike" sz="1200" u="none">
                    <a:solidFill>
                      <a:srgbClr val="1E272C"/>
                    </a:solidFill>
                    <a:latin typeface="+mn-lt"/>
                  </a:defRPr>
                </a:pPr>
              </a:p>
            </c:txPr>
            <c:showLegendKey val="0"/>
            <c:showVal val="1"/>
            <c:showCatName val="0"/>
            <c:showSerName val="0"/>
            <c:showPercent val="0"/>
            <c:showBubbleSize val="0"/>
            <c:showLeaderLines val="0"/>
          </c:dLbls>
          <c:cat>
            <c:multiLvlStrRef>
              <c:f>Sheet1!$A$2:$A$5</c:f>
              <c:multiLvlStrCache>
                <c:ptCount val="4"/>
                <c:lvl>
                  <c:pt idx="0">
                    <c:v>No user set</c:v>
                  </c:pt>
                  <c:pt idx="1">
                    <c:v>Engineer</c:v>
                  </c:pt>
                  <c:pt idx="2">
                    <c:v>Contractor</c:v>
                  </c:pt>
                  <c:pt idx="3">
                    <c:v>Worker</c:v>
                  </c:pt>
                </c:lvl>
              </c:multiLvlStrCache>
            </c:multiLvlStrRef>
          </c:cat>
          <c:val>
            <c:numRef>
              <c:f>Sheet1!$B$2:$B$5</c:f>
              <c:numCache>
                <c:formatCode>General</c:formatCode>
                <c:ptCount val="4"/>
                <c:pt idx="0">
                  <c:v>0</c:v>
                </c:pt>
                <c:pt idx="1">
                  <c:v>2</c:v>
                </c:pt>
                <c:pt idx="2">
                  <c:v>1</c:v>
                </c:pt>
                <c:pt idx="3">
                  <c:v>1</c:v>
                </c:pt>
              </c:numCache>
            </c:numRef>
          </c:val>
        </c:ser>
        <c:dLbls>
          <c:numFmt formatCode="#,##0" sourceLinked="0"/>
          <c:txPr>
            <a:bodyPr/>
            <a:lstStyle/>
            <a:p>
              <a:pPr>
                <a:defRPr b="0" i="0" strike="noStrike" sz="1200" u="none">
                  <a:solidFill>
                    <a:srgbClr val="1E272C"/>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F3E46"/>
                </a:solidFill>
                <a:latin typeface="+mn-lt"/>
              </a:defRPr>
            </a:pPr>
            <a:endParaRPr lang="en-US"/>
          </a:p>
        </c:txPr>
        <c:crossAx val="2094734552"/>
        <c:crosses val="autoZero"/>
        <c:auto val="1"/>
        <c:lblAlgn val="ctr"/>
        <c:noMultiLvlLbl val="1"/>
      </c:catAx>
      <c:valAx>
        <c:axId val="2094734552"/>
        <c:scaling>
          <c:orientation val="minMax"/>
          <c:max val="2.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every condition in scripts/showcase.py. Run it live with: python run.py showcase. All numbers and messages on these slides are the database's real output from that script, on the same synthetic demo data the UI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condition gets its own copy of the database, so they cannot interfere with each other even though they run concurrently. The script exits with an error if any reaction differs from the expected one, and a test runs it in CI, so the slides cannot drift from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19 conditions fall into six groups. The next slides go group by group: the situation, what we tried, and how the database reacted.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 1: the seeded draft permit on CHN-ADY-010 has no standby, an entrant without breathing apparatus and harness, and no gas readings. The database denies it and names the five failing checks. Condition 2: even the database owner typing UPDATE directly is refused with SQLSTATE ZE001 and the same reasons, because the BEFORE UPDATE trigger calls the same check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 3 does what the supervisor does in the UI: add standby NAM-TN-100003, issue the two missing items, log TOP, MID and BOTTOM readings with detector GD-4G-0001. The gate now passes all 11 checks, the permit becomes AUTHORISED for four hours, and one immutable decision snapshot is stored with its digest.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 4: a reading from a detector whose calibration lapsed is refused with ZE002 and the database's own sentence giving the expiry date. Condition 5: once authorised, crew and gear are frozen, so the proof cannot be changed after the decision; the insert is refused with ZE003.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 8: with an authorised permit and a worker inside, a new BOTTOM reading of 12 percent oxygen is stored, and the trigger immediately stops the permit and appends two immutable safety events. Recording the worker's exit still works afterwards. Condition 6: a second overlapping entry for the same worker is refused by the exclusion constraint ex_entry_no_overlap. Condition 7: only crew members with the ENTRANT role may enter; the standby is refused.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absence scan finds complaints closed as cleared without the evidence a lawful clearance leaves behind. Condition 9: re-running it changes nothing, because of a unique constraint plus INSERT ON CONFLICT. Condition 10: when a machine log arrives late, the alert moves to EVIDENCE_RECEIVED; it is never closed automatically and the invoice hold stays. Condition 12: a supervisor cannot decide an alert, ZE006.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 11: the alert on CHN-ADY-006 held one invoice. Dismissing it released that hold and only that hold; the three other active holds were untouched.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 14: one procedure call records the incident, opens a 30 lakh compensation case with a deadline and blacklists the contractor; afterwards the database refuses to give them a new job. Condition 15: if the same call fails half-way, here because the amount was mis-set to zero and a CHECK constraint fails, the whole transaction rolls back and every count is unchanged. Condition 13: an invoice on hold cannot be approved, ZE003.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run with two real database sessions at the same instant. Condition 16: session 1 is inside authorise_entry and holds the permit lock; session 2 tries to delete the standby, waits, and after session 1 commits it re-reads the permit, sees AUTHORISED and is refused because the crew is frozen. Condition 17: two clerks pay the full outstanding compensation at once; the row lock makes the second wait and then refuse, so the case is paid exactly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 18: the API connects as ze_app and sets the signed-in user for each transaction. With no user set, row-level security shows nothing; the engineer sees both permits; the contractor and the worker each see only their own. Condition 19: the ze_app role itself cannot edit evidence, drop tables or add roles; all three attempts are refused with permission denied, 42501.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 reactions are refusals or rollbacks: the database protecting an invariant. Green reactions are legitimate state changes. Every one of these is checked by the script itself and by tests/db/test_showcase.py.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boundary: these guarantees hold for every client and every non-owner role. They check recorded evidence, not the physical world, and all data here is synthetic. Commands for the full demo are in docs/guide/DEMO_COMMANDS.md.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371600"/>
          </a:xfrm>
          <a:prstGeom prst="rect">
            <a:avLst/>
          </a:prstGeom>
          <a:noFill/>
          <a:ln/>
        </p:spPr>
        <p:txBody>
          <a:bodyPr wrap="square" rtlCol="0"/>
          <a:lstStyle>
            <a:lvl1pPr algn="l" indent="0" marL="0">
              <a:buNone/>
              <a:defRPr lang="en-US" sz="3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800" dirty="0"/>
          </a:p>
        </p:txBody>
      </p:sp>
      <p:sp>
        <p:nvSpPr>
          <p:cNvPr id="3" name="Text 0"/>
          <p:cNvSpPr/>
          <p:nvPr>
            <p:ph idx="101" type="body" hasCustomPrompt="1"/>
          </p:nvPr>
        </p:nvSpPr>
        <p:spPr>
          <a:xfrm>
            <a:off x="548640" y="2880360"/>
            <a:ext cx="8046720" cy="109728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lstStyle>
            <a:lvl1pPr algn="l" indent="0" marL="0">
              <a:buNone/>
              <a:defRPr lang="en-US" sz="26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3" name="Text 0"/>
          <p:cNvSpPr/>
          <p:nvPr/>
        </p:nvSpPr>
        <p:spPr>
          <a:xfrm>
            <a:off x="457200" y="4754880"/>
            <a:ext cx="6400800" cy="274320"/>
          </a:xfrm>
          <a:prstGeom prst="rect">
            <a:avLst/>
          </a:prstGeom>
          <a:noFill/>
          <a:ln/>
        </p:spPr>
        <p:txBody>
          <a:bodyPr wrap="square" lIns="0" tIns="0" rIns="0" bIns="0" rtlCol="0" anchor="ctr"/>
          <a:lstStyle/>
          <a:p>
            <a:pPr indent="0" marL="0">
              <a:buNone/>
            </a:pPr>
            <a:r>
              <a:rPr lang="en-US" sz="1000" dirty="0">
                <a:solidFill>
                  <a:schemeClr val="accent5"/>
                </a:solidFill>
              </a:rPr>
              <a:t>ZeroEntry  ·  condition showcase  ·  python run.py showcase</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371600"/>
          </a:xfrm>
          <a:prstGeom prst="rect">
            <a:avLst/>
          </a:prstGeom>
          <a:noFill/>
          <a:ln/>
        </p:spPr>
        <p:txBody>
          <a:bodyPr wrap="square" rtlCol="0" anchor="b"/>
          <a:lstStyle/>
          <a:p>
            <a:pPr algn="l" indent="0" marL="0">
              <a:buNone/>
            </a:pPr>
            <a:r>
              <a:rPr lang="en-US" sz="3800" b="1" dirty="0">
                <a:solidFill>
                  <a:schemeClr val="bg1"/>
                </a:solidFill>
                <a:latin typeface="Cambria" pitchFamily="34" charset="0"/>
                <a:ea typeface="Cambria" pitchFamily="34" charset="-122"/>
                <a:cs typeface="Cambria" pitchFamily="34" charset="-120"/>
              </a:rPr>
              <a:t>How the database reacts</a:t>
            </a:r>
            <a:endParaRPr lang="en-US" sz="3800" dirty="0"/>
          </a:p>
        </p:txBody>
      </p:sp>
      <p:sp>
        <p:nvSpPr>
          <p:cNvPr id="3" name="Text 0"/>
          <p:cNvSpPr/>
          <p:nvPr>
            <p:ph idx="101" type="body" hasCustomPrompt="1"/>
          </p:nvPr>
        </p:nvSpPr>
        <p:spPr>
          <a:xfrm>
            <a:off x="548640" y="2880360"/>
            <a:ext cx="8046720" cy="1097280"/>
          </a:xfrm>
          <a:prstGeom prst="rect">
            <a:avLst/>
          </a:prstGeom>
          <a:noFill/>
          <a:ln/>
        </p:spPr>
        <p:txBody>
          <a:bodyPr wrap="square" rtlCol="0" anchor="t"/>
          <a:lstStyle/>
          <a:p>
            <a:pPr indent="0" marL="0">
              <a:buNone/>
            </a:pPr>
            <a:r>
              <a:rPr lang="en-US" sz="1600" dirty="0">
                <a:solidFill>
                  <a:schemeClr val="bg2"/>
                </a:solidFill>
              </a:rPr>
              <a:t>19 situations, run at the same time against ZeroEntry's PostgreSQL rules, each with the state before and after</a:t>
            </a:r>
            <a:endParaRPr lang="en-US" sz="1600" dirty="0"/>
          </a:p>
        </p:txBody>
      </p:sp>
      <p:sp>
        <p:nvSpPr>
          <p:cNvPr id="4" name="badge-1"/>
          <p:cNvSpPr/>
          <p:nvPr/>
        </p:nvSpPr>
        <p:spPr>
          <a:xfrm>
            <a:off x="548640" y="731520"/>
            <a:ext cx="365760" cy="365760"/>
          </a:xfrm>
          <a:prstGeom prst="ellipse">
            <a:avLst/>
          </a:prstGeom>
          <a:solidFill>
            <a:schemeClr val="accent1"/>
          </a:solidFill>
          <a:ln w="12700">
            <a:solidFill>
              <a:schemeClr val="accent1"/>
            </a:solidFill>
            <a:prstDash val="solid"/>
          </a:ln>
        </p:spPr>
      </p:sp>
      <p:sp>
        <p:nvSpPr>
          <p:cNvPr id="5" name="badge-num-2"/>
          <p:cNvSpPr txBox="1"/>
          <p:nvPr/>
        </p:nvSpPr>
        <p:spPr>
          <a:xfrm>
            <a:off x="548640" y="731520"/>
            <a:ext cx="365760" cy="365760"/>
          </a:xfrm>
          <a:prstGeom prst="rect">
            <a:avLst/>
          </a:prstGeom>
          <a:noFill/>
          <a:ln/>
        </p:spPr>
        <p:txBody>
          <a:bodyPr wrap="square" lIns="0" tIns="0" rIns="0" bIns="0" rtlCol="0" anchor="ctr"/>
          <a:lstStyle/>
          <a:p>
            <a:pPr algn="ctr" indent="0" marL="0">
              <a:buNone/>
            </a:pPr>
            <a:r>
              <a:rPr lang="en-US" sz="1300" b="1" dirty="0">
                <a:solidFill>
                  <a:schemeClr val="tx1"/>
                </a:solidFill>
              </a:rPr>
              <a:t>01</a:t>
            </a:r>
            <a:endParaRPr lang="en-US" sz="1300" dirty="0"/>
          </a:p>
        </p:txBody>
      </p:sp>
      <p:sp>
        <p:nvSpPr>
          <p:cNvPr id="6" name="badge-3"/>
          <p:cNvSpPr/>
          <p:nvPr/>
        </p:nvSpPr>
        <p:spPr>
          <a:xfrm>
            <a:off x="1051560" y="731520"/>
            <a:ext cx="365760" cy="365760"/>
          </a:xfrm>
          <a:prstGeom prst="ellipse">
            <a:avLst/>
          </a:prstGeom>
          <a:solidFill>
            <a:schemeClr val="accent1"/>
          </a:solidFill>
          <a:ln w="12700">
            <a:solidFill>
              <a:schemeClr val="accent1"/>
            </a:solidFill>
            <a:prstDash val="solid"/>
          </a:ln>
        </p:spPr>
      </p:sp>
      <p:sp>
        <p:nvSpPr>
          <p:cNvPr id="7" name="badge-num-4"/>
          <p:cNvSpPr txBox="1"/>
          <p:nvPr/>
        </p:nvSpPr>
        <p:spPr>
          <a:xfrm>
            <a:off x="1051560" y="731520"/>
            <a:ext cx="365760" cy="365760"/>
          </a:xfrm>
          <a:prstGeom prst="rect">
            <a:avLst/>
          </a:prstGeom>
          <a:noFill/>
          <a:ln/>
        </p:spPr>
        <p:txBody>
          <a:bodyPr wrap="square" lIns="0" tIns="0" rIns="0" bIns="0" rtlCol="0" anchor="ctr"/>
          <a:lstStyle/>
          <a:p>
            <a:pPr algn="ctr" indent="0" marL="0">
              <a:buNone/>
            </a:pPr>
            <a:r>
              <a:rPr lang="en-US" sz="1300" b="1" dirty="0">
                <a:solidFill>
                  <a:schemeClr val="tx1"/>
                </a:solidFill>
              </a:rPr>
              <a:t>03</a:t>
            </a:r>
            <a:endParaRPr lang="en-US" sz="1300" dirty="0"/>
          </a:p>
        </p:txBody>
      </p:sp>
      <p:sp>
        <p:nvSpPr>
          <p:cNvPr id="8" name="badge-5"/>
          <p:cNvSpPr/>
          <p:nvPr/>
        </p:nvSpPr>
        <p:spPr>
          <a:xfrm>
            <a:off x="1554480" y="731520"/>
            <a:ext cx="365760" cy="365760"/>
          </a:xfrm>
          <a:prstGeom prst="ellipse">
            <a:avLst/>
          </a:prstGeom>
          <a:solidFill>
            <a:schemeClr val="accent1"/>
          </a:solidFill>
          <a:ln w="12700">
            <a:solidFill>
              <a:schemeClr val="accent1"/>
            </a:solidFill>
            <a:prstDash val="solid"/>
          </a:ln>
        </p:spPr>
      </p:sp>
      <p:sp>
        <p:nvSpPr>
          <p:cNvPr id="9" name="badge-num-6"/>
          <p:cNvSpPr txBox="1"/>
          <p:nvPr/>
        </p:nvSpPr>
        <p:spPr>
          <a:xfrm>
            <a:off x="1554480" y="731520"/>
            <a:ext cx="365760" cy="365760"/>
          </a:xfrm>
          <a:prstGeom prst="rect">
            <a:avLst/>
          </a:prstGeom>
          <a:noFill/>
          <a:ln/>
        </p:spPr>
        <p:txBody>
          <a:bodyPr wrap="square" lIns="0" tIns="0" rIns="0" bIns="0" rtlCol="0" anchor="ctr"/>
          <a:lstStyle/>
          <a:p>
            <a:pPr algn="ctr" indent="0" marL="0">
              <a:buNone/>
            </a:pPr>
            <a:r>
              <a:rPr lang="en-US" sz="1300" b="1" dirty="0">
                <a:solidFill>
                  <a:schemeClr val="tx1"/>
                </a:solidFill>
              </a:rPr>
              <a:t>08</a:t>
            </a:r>
            <a:endParaRPr lang="en-US" sz="1300" dirty="0"/>
          </a:p>
        </p:txBody>
      </p:sp>
      <p:sp>
        <p:nvSpPr>
          <p:cNvPr id="10" name="badge-7"/>
          <p:cNvSpPr/>
          <p:nvPr/>
        </p:nvSpPr>
        <p:spPr>
          <a:xfrm>
            <a:off x="2057400" y="731520"/>
            <a:ext cx="365760" cy="365760"/>
          </a:xfrm>
          <a:prstGeom prst="ellipse">
            <a:avLst/>
          </a:prstGeom>
          <a:solidFill>
            <a:schemeClr val="accent1"/>
          </a:solidFill>
          <a:ln w="12700">
            <a:solidFill>
              <a:schemeClr val="accent1"/>
            </a:solidFill>
            <a:prstDash val="solid"/>
          </a:ln>
        </p:spPr>
      </p:sp>
      <p:sp>
        <p:nvSpPr>
          <p:cNvPr id="11" name="badge-num-8"/>
          <p:cNvSpPr txBox="1"/>
          <p:nvPr/>
        </p:nvSpPr>
        <p:spPr>
          <a:xfrm>
            <a:off x="2057400" y="731520"/>
            <a:ext cx="365760" cy="365760"/>
          </a:xfrm>
          <a:prstGeom prst="rect">
            <a:avLst/>
          </a:prstGeom>
          <a:noFill/>
          <a:ln/>
        </p:spPr>
        <p:txBody>
          <a:bodyPr wrap="square" lIns="0" tIns="0" rIns="0" bIns="0" rtlCol="0" anchor="ctr"/>
          <a:lstStyle/>
          <a:p>
            <a:pPr algn="ctr" indent="0" marL="0">
              <a:buNone/>
            </a:pPr>
            <a:r>
              <a:rPr lang="en-US" sz="1300" b="1" dirty="0">
                <a:solidFill>
                  <a:schemeClr val="tx1"/>
                </a:solidFill>
              </a:rPr>
              <a:t>11</a:t>
            </a:r>
            <a:endParaRPr lang="en-US" sz="1300" dirty="0"/>
          </a:p>
        </p:txBody>
      </p:sp>
      <p:sp>
        <p:nvSpPr>
          <p:cNvPr id="12" name="badge-9"/>
          <p:cNvSpPr/>
          <p:nvPr/>
        </p:nvSpPr>
        <p:spPr>
          <a:xfrm>
            <a:off x="2560320" y="731520"/>
            <a:ext cx="365760" cy="365760"/>
          </a:xfrm>
          <a:prstGeom prst="ellipse">
            <a:avLst/>
          </a:prstGeom>
          <a:solidFill>
            <a:schemeClr val="accent1"/>
          </a:solidFill>
          <a:ln w="12700">
            <a:solidFill>
              <a:schemeClr val="accent1"/>
            </a:solidFill>
            <a:prstDash val="solid"/>
          </a:ln>
        </p:spPr>
      </p:sp>
      <p:sp>
        <p:nvSpPr>
          <p:cNvPr id="13" name="badge-num-10"/>
          <p:cNvSpPr txBox="1"/>
          <p:nvPr/>
        </p:nvSpPr>
        <p:spPr>
          <a:xfrm>
            <a:off x="2560320" y="731520"/>
            <a:ext cx="365760" cy="365760"/>
          </a:xfrm>
          <a:prstGeom prst="rect">
            <a:avLst/>
          </a:prstGeom>
          <a:noFill/>
          <a:ln/>
        </p:spPr>
        <p:txBody>
          <a:bodyPr wrap="square" lIns="0" tIns="0" rIns="0" bIns="0" rtlCol="0" anchor="ctr"/>
          <a:lstStyle/>
          <a:p>
            <a:pPr algn="ctr" indent="0" marL="0">
              <a:buNone/>
            </a:pPr>
            <a:r>
              <a:rPr lang="en-US" sz="1300" b="1" dirty="0">
                <a:solidFill>
                  <a:schemeClr val="tx1"/>
                </a:solidFill>
              </a:rPr>
              <a:t>16</a:t>
            </a:r>
            <a:endParaRPr lang="en-US" sz="1300" dirty="0"/>
          </a:p>
        </p:txBody>
      </p:sp>
      <p:sp>
        <p:nvSpPr>
          <p:cNvPr id="14" name="badge-11"/>
          <p:cNvSpPr/>
          <p:nvPr/>
        </p:nvSpPr>
        <p:spPr>
          <a:xfrm>
            <a:off x="3063240" y="731520"/>
            <a:ext cx="365760" cy="365760"/>
          </a:xfrm>
          <a:prstGeom prst="ellipse">
            <a:avLst/>
          </a:prstGeom>
          <a:solidFill>
            <a:schemeClr val="accent1"/>
          </a:solidFill>
          <a:ln w="12700">
            <a:solidFill>
              <a:schemeClr val="accent1"/>
            </a:solidFill>
            <a:prstDash val="solid"/>
          </a:ln>
        </p:spPr>
      </p:sp>
      <p:sp>
        <p:nvSpPr>
          <p:cNvPr id="15" name="badge-num-12"/>
          <p:cNvSpPr txBox="1"/>
          <p:nvPr/>
        </p:nvSpPr>
        <p:spPr>
          <a:xfrm>
            <a:off x="3063240" y="731520"/>
            <a:ext cx="365760" cy="365760"/>
          </a:xfrm>
          <a:prstGeom prst="rect">
            <a:avLst/>
          </a:prstGeom>
          <a:noFill/>
          <a:ln/>
        </p:spPr>
        <p:txBody>
          <a:bodyPr wrap="square" lIns="0" tIns="0" rIns="0" bIns="0" rtlCol="0" anchor="ctr"/>
          <a:lstStyle/>
          <a:p>
            <a:pPr algn="ctr" indent="0" marL="0">
              <a:buNone/>
            </a:pPr>
            <a:r>
              <a:rPr lang="en-US" sz="1300" b="1" dirty="0">
                <a:solidFill>
                  <a:schemeClr val="tx1"/>
                </a:solidFill>
              </a:rPr>
              <a:t>18</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One command, 19 private databases, all at once</a:t>
            </a:r>
            <a:endParaRPr lang="en-US" sz="2600" dirty="0"/>
          </a:p>
        </p:txBody>
      </p:sp>
      <p:sp>
        <p:nvSpPr>
          <p:cNvPr id="3" name="card-13"/>
          <p:cNvSpPr/>
          <p:nvPr/>
        </p:nvSpPr>
        <p:spPr>
          <a:xfrm>
            <a:off x="457200" y="1188720"/>
            <a:ext cx="1874520" cy="1737360"/>
          </a:xfrm>
          <a:prstGeom prst="roundRect">
            <a:avLst>
              <a:gd name="adj" fmla="val 4211"/>
            </a:avLst>
          </a:prstGeom>
          <a:solidFill>
            <a:schemeClr val="bg2"/>
          </a:solidFill>
          <a:ln w="12700">
            <a:solidFill>
              <a:schemeClr val="bg2"/>
            </a:solidFill>
            <a:prstDash val="solid"/>
          </a:ln>
        </p:spPr>
      </p:sp>
      <p:sp>
        <p:nvSpPr>
          <p:cNvPr id="4" name="badge-14"/>
          <p:cNvSpPr/>
          <p:nvPr/>
        </p:nvSpPr>
        <p:spPr>
          <a:xfrm>
            <a:off x="640080" y="1325880"/>
            <a:ext cx="384048" cy="384048"/>
          </a:xfrm>
          <a:prstGeom prst="ellipse">
            <a:avLst/>
          </a:prstGeom>
          <a:solidFill>
            <a:schemeClr val="accent1"/>
          </a:solidFill>
          <a:ln w="12700">
            <a:solidFill>
              <a:schemeClr val="accent1"/>
            </a:solidFill>
            <a:prstDash val="solid"/>
          </a:ln>
        </p:spPr>
      </p:sp>
      <p:sp>
        <p:nvSpPr>
          <p:cNvPr id="5" name="badge-num-15"/>
          <p:cNvSpPr txBox="1"/>
          <p:nvPr/>
        </p:nvSpPr>
        <p:spPr>
          <a:xfrm>
            <a:off x="640080" y="13258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01</a:t>
            </a:r>
            <a:endParaRPr lang="en-US" sz="1300" dirty="0"/>
          </a:p>
        </p:txBody>
      </p:sp>
      <p:sp>
        <p:nvSpPr>
          <p:cNvPr id="6" name="text-16"/>
          <p:cNvSpPr txBox="1"/>
          <p:nvPr/>
        </p:nvSpPr>
        <p:spPr>
          <a:xfrm>
            <a:off x="640080" y="1828800"/>
            <a:ext cx="1554480" cy="411480"/>
          </a:xfrm>
          <a:prstGeom prst="rect">
            <a:avLst/>
          </a:prstGeom>
          <a:noFill/>
          <a:ln/>
        </p:spPr>
        <p:txBody>
          <a:bodyPr wrap="square" lIns="0" tIns="0" rIns="0" bIns="0" rtlCol="0" anchor="t"/>
          <a:lstStyle/>
          <a:p>
            <a:pPr indent="0" marL="0">
              <a:buNone/>
            </a:pPr>
            <a:r>
              <a:rPr lang="en-US" sz="1500" b="1" dirty="0">
                <a:solidFill>
                  <a:schemeClr val="tx1"/>
                </a:solidFill>
              </a:rPr>
              <a:t>Throwaway server</a:t>
            </a:r>
            <a:endParaRPr lang="en-US" sz="1500" dirty="0"/>
          </a:p>
        </p:txBody>
      </p:sp>
      <p:sp>
        <p:nvSpPr>
          <p:cNvPr id="7" name="text-17"/>
          <p:cNvSpPr txBox="1"/>
          <p:nvPr/>
        </p:nvSpPr>
        <p:spPr>
          <a:xfrm>
            <a:off x="640080" y="2240280"/>
            <a:ext cx="1554480" cy="685800"/>
          </a:xfrm>
          <a:prstGeom prst="rect">
            <a:avLst/>
          </a:prstGeom>
          <a:noFill/>
          <a:ln/>
        </p:spPr>
        <p:txBody>
          <a:bodyPr wrap="square" lIns="0" tIns="0" rIns="0" bIns="0" rtlCol="0" anchor="t"/>
          <a:lstStyle/>
          <a:p>
            <a:pPr indent="0" marL="0">
              <a:buNone/>
            </a:pPr>
            <a:r>
              <a:rPr lang="en-US" sz="1200" dirty="0">
                <a:solidFill>
                  <a:schemeClr val="tx2"/>
                </a:solidFill>
              </a:rPr>
              <a:t>a fresh PostgreSQL 16 in a temp folder; your data is never touched</a:t>
            </a:r>
            <a:endParaRPr lang="en-US" sz="1200" dirty="0"/>
          </a:p>
        </p:txBody>
      </p:sp>
      <p:sp>
        <p:nvSpPr>
          <p:cNvPr id="8" name="arrow-18"/>
          <p:cNvSpPr/>
          <p:nvPr/>
        </p:nvSpPr>
        <p:spPr>
          <a:xfrm rot="5400000">
            <a:off x="2359152" y="1938528"/>
            <a:ext cx="164592" cy="237744"/>
          </a:xfrm>
          <a:prstGeom prst="rtTriangle">
            <a:avLst/>
          </a:prstGeom>
          <a:solidFill>
            <a:schemeClr val="accent1"/>
          </a:solidFill>
          <a:ln w="12700">
            <a:solidFill>
              <a:schemeClr val="accent1"/>
            </a:solidFill>
            <a:prstDash val="solid"/>
          </a:ln>
        </p:spPr>
      </p:sp>
      <p:sp>
        <p:nvSpPr>
          <p:cNvPr id="9" name="card-19"/>
          <p:cNvSpPr/>
          <p:nvPr/>
        </p:nvSpPr>
        <p:spPr>
          <a:xfrm>
            <a:off x="2560320" y="1188720"/>
            <a:ext cx="1874520" cy="1737360"/>
          </a:xfrm>
          <a:prstGeom prst="roundRect">
            <a:avLst>
              <a:gd name="adj" fmla="val 4211"/>
            </a:avLst>
          </a:prstGeom>
          <a:solidFill>
            <a:schemeClr val="bg2"/>
          </a:solidFill>
          <a:ln w="12700">
            <a:solidFill>
              <a:schemeClr val="bg2"/>
            </a:solidFill>
            <a:prstDash val="solid"/>
          </a:ln>
        </p:spPr>
      </p:sp>
      <p:sp>
        <p:nvSpPr>
          <p:cNvPr id="10" name="badge-20"/>
          <p:cNvSpPr/>
          <p:nvPr/>
        </p:nvSpPr>
        <p:spPr>
          <a:xfrm>
            <a:off x="2743200" y="1325880"/>
            <a:ext cx="384048" cy="384048"/>
          </a:xfrm>
          <a:prstGeom prst="ellipse">
            <a:avLst/>
          </a:prstGeom>
          <a:solidFill>
            <a:schemeClr val="accent1"/>
          </a:solidFill>
          <a:ln w="12700">
            <a:solidFill>
              <a:schemeClr val="accent1"/>
            </a:solidFill>
            <a:prstDash val="solid"/>
          </a:ln>
        </p:spPr>
      </p:sp>
      <p:sp>
        <p:nvSpPr>
          <p:cNvPr id="11" name="badge-num-21"/>
          <p:cNvSpPr txBox="1"/>
          <p:nvPr/>
        </p:nvSpPr>
        <p:spPr>
          <a:xfrm>
            <a:off x="2743200" y="13258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02</a:t>
            </a:r>
            <a:endParaRPr lang="en-US" sz="1300" dirty="0"/>
          </a:p>
        </p:txBody>
      </p:sp>
      <p:sp>
        <p:nvSpPr>
          <p:cNvPr id="12" name="text-22"/>
          <p:cNvSpPr txBox="1"/>
          <p:nvPr/>
        </p:nvSpPr>
        <p:spPr>
          <a:xfrm>
            <a:off x="2743200" y="1828800"/>
            <a:ext cx="1554480" cy="411480"/>
          </a:xfrm>
          <a:prstGeom prst="rect">
            <a:avLst/>
          </a:prstGeom>
          <a:noFill/>
          <a:ln/>
        </p:spPr>
        <p:txBody>
          <a:bodyPr wrap="square" lIns="0" tIns="0" rIns="0" bIns="0" rtlCol="0" anchor="t"/>
          <a:lstStyle/>
          <a:p>
            <a:pPr indent="0" marL="0">
              <a:buNone/>
            </a:pPr>
            <a:r>
              <a:rPr lang="en-US" sz="1500" b="1" dirty="0">
                <a:solidFill>
                  <a:schemeClr val="tx1"/>
                </a:solidFill>
              </a:rPr>
              <a:t>One template</a:t>
            </a:r>
            <a:endParaRPr lang="en-US" sz="1500" dirty="0"/>
          </a:p>
        </p:txBody>
      </p:sp>
      <p:sp>
        <p:nvSpPr>
          <p:cNvPr id="13" name="text-23"/>
          <p:cNvSpPr txBox="1"/>
          <p:nvPr/>
        </p:nvSpPr>
        <p:spPr>
          <a:xfrm>
            <a:off x="2743200" y="2240280"/>
            <a:ext cx="1554480" cy="685800"/>
          </a:xfrm>
          <a:prstGeom prst="rect">
            <a:avLst/>
          </a:prstGeom>
          <a:noFill/>
          <a:ln/>
        </p:spPr>
        <p:txBody>
          <a:bodyPr wrap="square" lIns="0" tIns="0" rIns="0" bIns="0" rtlCol="0" anchor="t"/>
          <a:lstStyle/>
          <a:p>
            <a:pPr indent="0" marL="0">
              <a:buNone/>
            </a:pPr>
            <a:r>
              <a:rPr lang="en-US" sz="1200" dirty="0">
                <a:solidFill>
                  <a:schemeClr val="tx2"/>
                </a:solidFill>
              </a:rPr>
              <a:t>the 14 migrations + the demo data the UI shows</a:t>
            </a:r>
            <a:endParaRPr lang="en-US" sz="1200" dirty="0"/>
          </a:p>
        </p:txBody>
      </p:sp>
      <p:sp>
        <p:nvSpPr>
          <p:cNvPr id="14" name="arrow-24"/>
          <p:cNvSpPr/>
          <p:nvPr/>
        </p:nvSpPr>
        <p:spPr>
          <a:xfrm rot="5400000">
            <a:off x="4462272" y="1938528"/>
            <a:ext cx="164592" cy="237744"/>
          </a:xfrm>
          <a:prstGeom prst="rtTriangle">
            <a:avLst/>
          </a:prstGeom>
          <a:solidFill>
            <a:schemeClr val="accent1"/>
          </a:solidFill>
          <a:ln w="12700">
            <a:solidFill>
              <a:schemeClr val="accent1"/>
            </a:solidFill>
            <a:prstDash val="solid"/>
          </a:ln>
        </p:spPr>
      </p:sp>
      <p:sp>
        <p:nvSpPr>
          <p:cNvPr id="15" name="card-25"/>
          <p:cNvSpPr/>
          <p:nvPr/>
        </p:nvSpPr>
        <p:spPr>
          <a:xfrm>
            <a:off x="4663440" y="1188720"/>
            <a:ext cx="1874520" cy="1737360"/>
          </a:xfrm>
          <a:prstGeom prst="roundRect">
            <a:avLst>
              <a:gd name="adj" fmla="val 4211"/>
            </a:avLst>
          </a:prstGeom>
          <a:solidFill>
            <a:schemeClr val="bg2"/>
          </a:solidFill>
          <a:ln w="12700">
            <a:solidFill>
              <a:schemeClr val="bg2"/>
            </a:solidFill>
            <a:prstDash val="solid"/>
          </a:ln>
        </p:spPr>
      </p:sp>
      <p:sp>
        <p:nvSpPr>
          <p:cNvPr id="16" name="badge-26"/>
          <p:cNvSpPr/>
          <p:nvPr/>
        </p:nvSpPr>
        <p:spPr>
          <a:xfrm>
            <a:off x="4846320" y="1325880"/>
            <a:ext cx="384048" cy="384048"/>
          </a:xfrm>
          <a:prstGeom prst="ellipse">
            <a:avLst/>
          </a:prstGeom>
          <a:solidFill>
            <a:schemeClr val="accent1"/>
          </a:solidFill>
          <a:ln w="12700">
            <a:solidFill>
              <a:schemeClr val="accent1"/>
            </a:solidFill>
            <a:prstDash val="solid"/>
          </a:ln>
        </p:spPr>
      </p:sp>
      <p:sp>
        <p:nvSpPr>
          <p:cNvPr id="17" name="badge-num-27"/>
          <p:cNvSpPr txBox="1"/>
          <p:nvPr/>
        </p:nvSpPr>
        <p:spPr>
          <a:xfrm>
            <a:off x="4846320" y="13258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03</a:t>
            </a:r>
            <a:endParaRPr lang="en-US" sz="1300" dirty="0"/>
          </a:p>
        </p:txBody>
      </p:sp>
      <p:sp>
        <p:nvSpPr>
          <p:cNvPr id="18" name="text-28"/>
          <p:cNvSpPr txBox="1"/>
          <p:nvPr/>
        </p:nvSpPr>
        <p:spPr>
          <a:xfrm>
            <a:off x="4846320" y="1828800"/>
            <a:ext cx="1554480" cy="411480"/>
          </a:xfrm>
          <a:prstGeom prst="rect">
            <a:avLst/>
          </a:prstGeom>
          <a:noFill/>
          <a:ln/>
        </p:spPr>
        <p:txBody>
          <a:bodyPr wrap="square" lIns="0" tIns="0" rIns="0" bIns="0" rtlCol="0" anchor="t"/>
          <a:lstStyle/>
          <a:p>
            <a:pPr indent="0" marL="0">
              <a:buNone/>
            </a:pPr>
            <a:r>
              <a:rPr lang="en-US" sz="1500" b="1" dirty="0">
                <a:solidFill>
                  <a:schemeClr val="tx1"/>
                </a:solidFill>
              </a:rPr>
              <a:t>19 clones</a:t>
            </a:r>
            <a:endParaRPr lang="en-US" sz="1500" dirty="0"/>
          </a:p>
        </p:txBody>
      </p:sp>
      <p:sp>
        <p:nvSpPr>
          <p:cNvPr id="19" name="text-29"/>
          <p:cNvSpPr txBox="1"/>
          <p:nvPr/>
        </p:nvSpPr>
        <p:spPr>
          <a:xfrm>
            <a:off x="4846320" y="2240280"/>
            <a:ext cx="1554480" cy="685800"/>
          </a:xfrm>
          <a:prstGeom prst="rect">
            <a:avLst/>
          </a:prstGeom>
          <a:noFill/>
          <a:ln/>
        </p:spPr>
        <p:txBody>
          <a:bodyPr wrap="square" lIns="0" tIns="0" rIns="0" bIns="0" rtlCol="0" anchor="t"/>
          <a:lstStyle/>
          <a:p>
            <a:pPr indent="0" marL="0">
              <a:buNone/>
            </a:pPr>
            <a:r>
              <a:rPr lang="en-US" sz="1200" dirty="0">
                <a:solidFill>
                  <a:schemeClr val="tx2"/>
                </a:solidFill>
              </a:rPr>
              <a:t>CREATE DATABASE ... TEMPLATE: one private copy per condition</a:t>
            </a:r>
            <a:endParaRPr lang="en-US" sz="1200" dirty="0"/>
          </a:p>
        </p:txBody>
      </p:sp>
      <p:sp>
        <p:nvSpPr>
          <p:cNvPr id="20" name="arrow-30"/>
          <p:cNvSpPr/>
          <p:nvPr/>
        </p:nvSpPr>
        <p:spPr>
          <a:xfrm rot="5400000">
            <a:off x="6565392" y="1938528"/>
            <a:ext cx="164592" cy="237744"/>
          </a:xfrm>
          <a:prstGeom prst="rtTriangle">
            <a:avLst/>
          </a:prstGeom>
          <a:solidFill>
            <a:schemeClr val="accent1"/>
          </a:solidFill>
          <a:ln w="12700">
            <a:solidFill>
              <a:schemeClr val="accent1"/>
            </a:solidFill>
            <a:prstDash val="solid"/>
          </a:ln>
        </p:spPr>
      </p:sp>
      <p:sp>
        <p:nvSpPr>
          <p:cNvPr id="21" name="card-31"/>
          <p:cNvSpPr/>
          <p:nvPr/>
        </p:nvSpPr>
        <p:spPr>
          <a:xfrm>
            <a:off x="6766560" y="1188720"/>
            <a:ext cx="1874520" cy="1737360"/>
          </a:xfrm>
          <a:prstGeom prst="roundRect">
            <a:avLst>
              <a:gd name="adj" fmla="val 4211"/>
            </a:avLst>
          </a:prstGeom>
          <a:solidFill>
            <a:schemeClr val="bg2"/>
          </a:solidFill>
          <a:ln w="12700">
            <a:solidFill>
              <a:schemeClr val="bg2"/>
            </a:solidFill>
            <a:prstDash val="solid"/>
          </a:ln>
        </p:spPr>
      </p:sp>
      <p:sp>
        <p:nvSpPr>
          <p:cNvPr id="22" name="badge-32"/>
          <p:cNvSpPr/>
          <p:nvPr/>
        </p:nvSpPr>
        <p:spPr>
          <a:xfrm>
            <a:off x="6949440" y="1325880"/>
            <a:ext cx="384048" cy="384048"/>
          </a:xfrm>
          <a:prstGeom prst="ellipse">
            <a:avLst/>
          </a:prstGeom>
          <a:solidFill>
            <a:schemeClr val="accent1"/>
          </a:solidFill>
          <a:ln w="12700">
            <a:solidFill>
              <a:schemeClr val="accent1"/>
            </a:solidFill>
            <a:prstDash val="solid"/>
          </a:ln>
        </p:spPr>
      </p:sp>
      <p:sp>
        <p:nvSpPr>
          <p:cNvPr id="23" name="badge-num-33"/>
          <p:cNvSpPr txBox="1"/>
          <p:nvPr/>
        </p:nvSpPr>
        <p:spPr>
          <a:xfrm>
            <a:off x="6949440" y="13258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04</a:t>
            </a:r>
            <a:endParaRPr lang="en-US" sz="1300" dirty="0"/>
          </a:p>
        </p:txBody>
      </p:sp>
      <p:sp>
        <p:nvSpPr>
          <p:cNvPr id="24" name="text-34"/>
          <p:cNvSpPr txBox="1"/>
          <p:nvPr/>
        </p:nvSpPr>
        <p:spPr>
          <a:xfrm>
            <a:off x="6949440" y="1828800"/>
            <a:ext cx="1554480" cy="411480"/>
          </a:xfrm>
          <a:prstGeom prst="rect">
            <a:avLst/>
          </a:prstGeom>
          <a:noFill/>
          <a:ln/>
        </p:spPr>
        <p:txBody>
          <a:bodyPr wrap="square" lIns="0" tIns="0" rIns="0" bIns="0" rtlCol="0" anchor="t"/>
          <a:lstStyle/>
          <a:p>
            <a:pPr indent="0" marL="0">
              <a:buNone/>
            </a:pPr>
            <a:r>
              <a:rPr lang="en-US" sz="1500" b="1" dirty="0">
                <a:solidFill>
                  <a:schemeClr val="tx1"/>
                </a:solidFill>
              </a:rPr>
              <a:t>19 threads</a:t>
            </a:r>
            <a:endParaRPr lang="en-US" sz="1500" dirty="0"/>
          </a:p>
        </p:txBody>
      </p:sp>
      <p:sp>
        <p:nvSpPr>
          <p:cNvPr id="25" name="text-35"/>
          <p:cNvSpPr txBox="1"/>
          <p:nvPr/>
        </p:nvSpPr>
        <p:spPr>
          <a:xfrm>
            <a:off x="6949440" y="2240280"/>
            <a:ext cx="1554480" cy="685800"/>
          </a:xfrm>
          <a:prstGeom prst="rect">
            <a:avLst/>
          </a:prstGeom>
          <a:noFill/>
          <a:ln/>
        </p:spPr>
        <p:txBody>
          <a:bodyPr wrap="square" lIns="0" tIns="0" rIns="0" bIns="0" rtlCol="0" anchor="t"/>
          <a:lstStyle/>
          <a:p>
            <a:pPr indent="0" marL="0">
              <a:buNone/>
            </a:pPr>
            <a:r>
              <a:rPr lang="en-US" sz="1200" dirty="0">
                <a:solidFill>
                  <a:schemeClr val="tx2"/>
                </a:solidFill>
              </a:rPr>
              <a:t>every condition runs at the same time and reports what changed</a:t>
            </a:r>
            <a:endParaRPr lang="en-US" sz="1200" dirty="0"/>
          </a:p>
        </p:txBody>
      </p:sp>
      <p:sp>
        <p:nvSpPr>
          <p:cNvPr id="26" name="text-36"/>
          <p:cNvSpPr txBox="1"/>
          <p:nvPr/>
        </p:nvSpPr>
        <p:spPr>
          <a:xfrm>
            <a:off x="457200" y="3200400"/>
            <a:ext cx="2560320" cy="68580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19 / 19</a:t>
            </a:r>
            <a:endParaRPr lang="en-US" sz="4000" dirty="0"/>
          </a:p>
        </p:txBody>
      </p:sp>
      <p:sp>
        <p:nvSpPr>
          <p:cNvPr id="27" name="text-37"/>
          <p:cNvSpPr txBox="1"/>
          <p:nvPr/>
        </p:nvSpPr>
        <p:spPr>
          <a:xfrm>
            <a:off x="457200" y="3886200"/>
            <a:ext cx="2560320" cy="365760"/>
          </a:xfrm>
          <a:prstGeom prst="rect">
            <a:avLst/>
          </a:prstGeom>
          <a:noFill/>
          <a:ln/>
        </p:spPr>
        <p:txBody>
          <a:bodyPr wrap="square" lIns="0" tIns="0" rIns="0" bIns="0" rtlCol="0" anchor="t"/>
          <a:lstStyle/>
          <a:p>
            <a:pPr indent="0" marL="0">
              <a:buNone/>
            </a:pPr>
            <a:r>
              <a:rPr lang="en-US" sz="1300" dirty="0">
                <a:solidFill>
                  <a:schemeClr val="tx2"/>
                </a:solidFill>
              </a:rPr>
              <a:t>conditions reacted as expected</a:t>
            </a:r>
            <a:endParaRPr lang="en-US" sz="1300" dirty="0"/>
          </a:p>
        </p:txBody>
      </p:sp>
      <p:sp>
        <p:nvSpPr>
          <p:cNvPr id="28" name="text-38"/>
          <p:cNvSpPr txBox="1"/>
          <p:nvPr/>
        </p:nvSpPr>
        <p:spPr>
          <a:xfrm>
            <a:off x="3246120" y="3200400"/>
            <a:ext cx="2560320" cy="685800"/>
          </a:xfrm>
          <a:prstGeom prst="rect">
            <a:avLst/>
          </a:prstGeom>
          <a:noFill/>
          <a:ln/>
        </p:spPr>
        <p:txBody>
          <a:bodyPr wrap="square" lIns="0" tIns="0" rIns="0" bIns="0" rtlCol="0" anchor="t"/>
          <a:lstStyle/>
          <a:p>
            <a:pPr indent="0" marL="0">
              <a:buNone/>
            </a:pPr>
            <a:r>
              <a:rPr lang="en-US" sz="4000" b="1" dirty="0">
                <a:solidFill>
                  <a:schemeClr val="tx1"/>
                </a:solidFill>
                <a:latin typeface="Cambria" pitchFamily="34" charset="0"/>
                <a:ea typeface="Cambria" pitchFamily="34" charset="-122"/>
                <a:cs typeface="Cambria" pitchFamily="34" charset="-120"/>
              </a:rPr>
              <a:t>1.5 s</a:t>
            </a:r>
            <a:endParaRPr lang="en-US" sz="4000" dirty="0"/>
          </a:p>
        </p:txBody>
      </p:sp>
      <p:sp>
        <p:nvSpPr>
          <p:cNvPr id="29" name="text-39"/>
          <p:cNvSpPr txBox="1"/>
          <p:nvPr/>
        </p:nvSpPr>
        <p:spPr>
          <a:xfrm>
            <a:off x="3246120" y="3886200"/>
            <a:ext cx="2560320" cy="365760"/>
          </a:xfrm>
          <a:prstGeom prst="rect">
            <a:avLst/>
          </a:prstGeom>
          <a:noFill/>
          <a:ln/>
        </p:spPr>
        <p:txBody>
          <a:bodyPr wrap="square" lIns="0" tIns="0" rIns="0" bIns="0" rtlCol="0" anchor="t"/>
          <a:lstStyle/>
          <a:p>
            <a:pPr indent="0" marL="0">
              <a:buNone/>
            </a:pPr>
            <a:r>
              <a:rPr lang="en-US" sz="1300" dirty="0">
                <a:solidFill>
                  <a:schemeClr val="tx2"/>
                </a:solidFill>
              </a:rPr>
              <a:t>wall time, all running together</a:t>
            </a:r>
            <a:endParaRPr lang="en-US" sz="1300" dirty="0"/>
          </a:p>
        </p:txBody>
      </p:sp>
      <p:sp>
        <p:nvSpPr>
          <p:cNvPr id="30" name="text-40"/>
          <p:cNvSpPr txBox="1"/>
          <p:nvPr/>
        </p:nvSpPr>
        <p:spPr>
          <a:xfrm>
            <a:off x="6035040" y="3200400"/>
            <a:ext cx="2560320" cy="685800"/>
          </a:xfrm>
          <a:prstGeom prst="rect">
            <a:avLst/>
          </a:prstGeom>
          <a:noFill/>
          <a:ln/>
        </p:spPr>
        <p:txBody>
          <a:bodyPr wrap="square" lIns="0" tIns="0" rIns="0" bIns="0" rtlCol="0" anchor="t"/>
          <a:lstStyle/>
          <a:p>
            <a:pPr indent="0" marL="0">
              <a:buNone/>
            </a:pPr>
            <a:r>
              <a:rPr lang="en-US" sz="4000" b="1" dirty="0">
                <a:solidFill>
                  <a:schemeClr val="tx1"/>
                </a:solidFill>
                <a:latin typeface="Cambria" pitchFamily="34" charset="0"/>
                <a:ea typeface="Cambria" pitchFamily="34" charset="-122"/>
                <a:cs typeface="Cambria" pitchFamily="34" charset="-120"/>
              </a:rPr>
              <a:t>0</a:t>
            </a:r>
            <a:endParaRPr lang="en-US" sz="4000" dirty="0"/>
          </a:p>
        </p:txBody>
      </p:sp>
      <p:sp>
        <p:nvSpPr>
          <p:cNvPr id="31" name="text-41"/>
          <p:cNvSpPr txBox="1"/>
          <p:nvPr/>
        </p:nvSpPr>
        <p:spPr>
          <a:xfrm>
            <a:off x="6035040" y="3886200"/>
            <a:ext cx="2560320" cy="365760"/>
          </a:xfrm>
          <a:prstGeom prst="rect">
            <a:avLst/>
          </a:prstGeom>
          <a:noFill/>
          <a:ln/>
        </p:spPr>
        <p:txBody>
          <a:bodyPr wrap="square" lIns="0" tIns="0" rIns="0" bIns="0" rtlCol="0" anchor="t"/>
          <a:lstStyle/>
          <a:p>
            <a:pPr indent="0" marL="0">
              <a:buNone/>
            </a:pPr>
            <a:r>
              <a:rPr lang="en-US" sz="1300" dirty="0">
                <a:solidFill>
                  <a:schemeClr val="tx2"/>
                </a:solidFill>
              </a:rPr>
              <a:t>rows changed in your own database</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Six kinds of situation the database has to handle</a:t>
            </a:r>
            <a:endParaRPr lang="en-US" sz="2600" dirty="0"/>
          </a:p>
        </p:txBody>
      </p:sp>
      <p:sp>
        <p:nvSpPr>
          <p:cNvPr id="3" name="card-42"/>
          <p:cNvSpPr/>
          <p:nvPr/>
        </p:nvSpPr>
        <p:spPr>
          <a:xfrm>
            <a:off x="457200" y="1143000"/>
            <a:ext cx="2606040" cy="1600200"/>
          </a:xfrm>
          <a:prstGeom prst="roundRect">
            <a:avLst>
              <a:gd name="adj" fmla="val 4571"/>
            </a:avLst>
          </a:prstGeom>
          <a:solidFill>
            <a:schemeClr val="bg2"/>
          </a:solidFill>
          <a:ln w="12700">
            <a:solidFill>
              <a:schemeClr val="bg2"/>
            </a:solidFill>
            <a:prstDash val="solid"/>
          </a:ln>
        </p:spPr>
      </p:sp>
      <p:sp>
        <p:nvSpPr>
          <p:cNvPr id="4" name="letter-43"/>
          <p:cNvSpPr/>
          <p:nvPr/>
        </p:nvSpPr>
        <p:spPr>
          <a:xfrm>
            <a:off x="640080" y="1325880"/>
            <a:ext cx="457200" cy="457200"/>
          </a:xfrm>
          <a:prstGeom prst="ellipse">
            <a:avLst/>
          </a:prstGeom>
          <a:solidFill>
            <a:schemeClr val="tx1"/>
          </a:solidFill>
          <a:ln w="12700">
            <a:solidFill>
              <a:schemeClr val="tx1"/>
            </a:solidFill>
            <a:prstDash val="solid"/>
          </a:ln>
        </p:spPr>
      </p:sp>
      <p:sp>
        <p:nvSpPr>
          <p:cNvPr id="5" name="text-44"/>
          <p:cNvSpPr txBox="1"/>
          <p:nvPr/>
        </p:nvSpPr>
        <p:spPr>
          <a:xfrm>
            <a:off x="640080" y="1325880"/>
            <a:ext cx="457200" cy="457200"/>
          </a:xfrm>
          <a:prstGeom prst="rect">
            <a:avLst/>
          </a:prstGeom>
          <a:noFill/>
          <a:ln/>
        </p:spPr>
        <p:txBody>
          <a:bodyPr wrap="square" lIns="0" tIns="0" rIns="0" bIns="0" rtlCol="0" anchor="ctr"/>
          <a:lstStyle/>
          <a:p>
            <a:pPr algn="ctr" indent="0" marL="0">
              <a:buNone/>
            </a:pPr>
            <a:r>
              <a:rPr lang="en-US" sz="1800" b="1" dirty="0">
                <a:solidFill>
                  <a:schemeClr val="accent1"/>
                </a:solidFill>
              </a:rPr>
              <a:t>A</a:t>
            </a:r>
            <a:endParaRPr lang="en-US" sz="1800" dirty="0"/>
          </a:p>
        </p:txBody>
      </p:sp>
      <p:sp>
        <p:nvSpPr>
          <p:cNvPr id="6" name="text-45"/>
          <p:cNvSpPr txBox="1"/>
          <p:nvPr/>
        </p:nvSpPr>
        <p:spPr>
          <a:xfrm>
            <a:off x="1234440" y="1325880"/>
            <a:ext cx="1737360" cy="457200"/>
          </a:xfrm>
          <a:prstGeom prst="rect">
            <a:avLst/>
          </a:prstGeom>
          <a:noFill/>
          <a:ln/>
        </p:spPr>
        <p:txBody>
          <a:bodyPr wrap="square" lIns="0" tIns="0" rIns="0" bIns="0" rtlCol="0" anchor="ctr"/>
          <a:lstStyle/>
          <a:p>
            <a:pPr indent="0" marL="0">
              <a:buNone/>
            </a:pPr>
            <a:r>
              <a:rPr lang="en-US" sz="1500" b="1" dirty="0">
                <a:solidFill>
                  <a:schemeClr val="tx1"/>
                </a:solidFill>
              </a:rPr>
              <a:t>Entry gate</a:t>
            </a:r>
            <a:endParaRPr lang="en-US" sz="1500" dirty="0"/>
          </a:p>
        </p:txBody>
      </p:sp>
      <p:sp>
        <p:nvSpPr>
          <p:cNvPr id="7" name="text-46"/>
          <p:cNvSpPr txBox="1"/>
          <p:nvPr/>
        </p:nvSpPr>
        <p:spPr>
          <a:xfrm>
            <a:off x="640080" y="1920240"/>
            <a:ext cx="2240280" cy="457200"/>
          </a:xfrm>
          <a:prstGeom prst="rect">
            <a:avLst/>
          </a:prstGeom>
          <a:noFill/>
          <a:ln/>
        </p:spPr>
        <p:txBody>
          <a:bodyPr wrap="square" lIns="0" tIns="0" rIns="0" bIns="0" rtlCol="0" anchor="t"/>
          <a:lstStyle/>
          <a:p>
            <a:pPr indent="0" marL="0">
              <a:buNone/>
            </a:pPr>
            <a:r>
              <a:rPr lang="en-US" sz="1200" dirty="0">
                <a:solidFill>
                  <a:schemeClr val="tx2"/>
                </a:solidFill>
              </a:rPr>
              <a:t>Can a worker be allowed into a manhole?</a:t>
            </a:r>
            <a:endParaRPr lang="en-US" sz="1200" dirty="0"/>
          </a:p>
        </p:txBody>
      </p:sp>
      <p:sp>
        <p:nvSpPr>
          <p:cNvPr id="8" name="text-47"/>
          <p:cNvSpPr txBox="1"/>
          <p:nvPr/>
        </p:nvSpPr>
        <p:spPr>
          <a:xfrm>
            <a:off x="640080" y="2377440"/>
            <a:ext cx="2240280" cy="274320"/>
          </a:xfrm>
          <a:prstGeom prst="rect">
            <a:avLst/>
          </a:prstGeom>
          <a:noFill/>
          <a:ln/>
        </p:spPr>
        <p:txBody>
          <a:bodyPr wrap="square" lIns="0" tIns="0" rIns="0" bIns="0" rtlCol="0" anchor="t"/>
          <a:lstStyle/>
          <a:p>
            <a:pPr indent="0" marL="0">
              <a:buNone/>
            </a:pPr>
            <a:r>
              <a:rPr lang="en-US" sz="1100" b="1" dirty="0">
                <a:solidFill>
                  <a:schemeClr val="accent4"/>
                </a:solidFill>
              </a:rPr>
              <a:t>conditions 1-5</a:t>
            </a:r>
            <a:endParaRPr lang="en-US" sz="1100" dirty="0"/>
          </a:p>
        </p:txBody>
      </p:sp>
      <p:sp>
        <p:nvSpPr>
          <p:cNvPr id="9" name="card-48"/>
          <p:cNvSpPr/>
          <p:nvPr/>
        </p:nvSpPr>
        <p:spPr>
          <a:xfrm>
            <a:off x="3246120" y="1143000"/>
            <a:ext cx="2606040" cy="1600200"/>
          </a:xfrm>
          <a:prstGeom prst="roundRect">
            <a:avLst>
              <a:gd name="adj" fmla="val 4571"/>
            </a:avLst>
          </a:prstGeom>
          <a:solidFill>
            <a:schemeClr val="bg2"/>
          </a:solidFill>
          <a:ln w="12700">
            <a:solidFill>
              <a:schemeClr val="bg2"/>
            </a:solidFill>
            <a:prstDash val="solid"/>
          </a:ln>
        </p:spPr>
      </p:sp>
      <p:sp>
        <p:nvSpPr>
          <p:cNvPr id="10" name="letter-49"/>
          <p:cNvSpPr/>
          <p:nvPr/>
        </p:nvSpPr>
        <p:spPr>
          <a:xfrm>
            <a:off x="3429000" y="1325880"/>
            <a:ext cx="457200" cy="457200"/>
          </a:xfrm>
          <a:prstGeom prst="ellipse">
            <a:avLst/>
          </a:prstGeom>
          <a:solidFill>
            <a:schemeClr val="tx1"/>
          </a:solidFill>
          <a:ln w="12700">
            <a:solidFill>
              <a:schemeClr val="tx1"/>
            </a:solidFill>
            <a:prstDash val="solid"/>
          </a:ln>
        </p:spPr>
      </p:sp>
      <p:sp>
        <p:nvSpPr>
          <p:cNvPr id="11" name="text-50"/>
          <p:cNvSpPr txBox="1"/>
          <p:nvPr/>
        </p:nvSpPr>
        <p:spPr>
          <a:xfrm>
            <a:off x="3429000" y="1325880"/>
            <a:ext cx="457200" cy="457200"/>
          </a:xfrm>
          <a:prstGeom prst="rect">
            <a:avLst/>
          </a:prstGeom>
          <a:noFill/>
          <a:ln/>
        </p:spPr>
        <p:txBody>
          <a:bodyPr wrap="square" lIns="0" tIns="0" rIns="0" bIns="0" rtlCol="0" anchor="ctr"/>
          <a:lstStyle/>
          <a:p>
            <a:pPr algn="ctr" indent="0" marL="0">
              <a:buNone/>
            </a:pPr>
            <a:r>
              <a:rPr lang="en-US" sz="1800" b="1" dirty="0">
                <a:solidFill>
                  <a:schemeClr val="accent1"/>
                </a:solidFill>
              </a:rPr>
              <a:t>B</a:t>
            </a:r>
            <a:endParaRPr lang="en-US" sz="1800" dirty="0"/>
          </a:p>
        </p:txBody>
      </p:sp>
      <p:sp>
        <p:nvSpPr>
          <p:cNvPr id="12" name="text-51"/>
          <p:cNvSpPr txBox="1"/>
          <p:nvPr/>
        </p:nvSpPr>
        <p:spPr>
          <a:xfrm>
            <a:off x="4023360" y="1325880"/>
            <a:ext cx="1737360" cy="457200"/>
          </a:xfrm>
          <a:prstGeom prst="rect">
            <a:avLst/>
          </a:prstGeom>
          <a:noFill/>
          <a:ln/>
        </p:spPr>
        <p:txBody>
          <a:bodyPr wrap="square" lIns="0" tIns="0" rIns="0" bIns="0" rtlCol="0" anchor="ctr"/>
          <a:lstStyle/>
          <a:p>
            <a:pPr indent="0" marL="0">
              <a:buNone/>
            </a:pPr>
            <a:r>
              <a:rPr lang="en-US" sz="1500" b="1" dirty="0">
                <a:solidFill>
                  <a:schemeClr val="tx1"/>
                </a:solidFill>
              </a:rPr>
              <a:t>During the work</a:t>
            </a:r>
            <a:endParaRPr lang="en-US" sz="1500" dirty="0"/>
          </a:p>
        </p:txBody>
      </p:sp>
      <p:sp>
        <p:nvSpPr>
          <p:cNvPr id="13" name="text-52"/>
          <p:cNvSpPr txBox="1"/>
          <p:nvPr/>
        </p:nvSpPr>
        <p:spPr>
          <a:xfrm>
            <a:off x="3429000" y="1920240"/>
            <a:ext cx="2240280" cy="457200"/>
          </a:xfrm>
          <a:prstGeom prst="rect">
            <a:avLst/>
          </a:prstGeom>
          <a:noFill/>
          <a:ln/>
        </p:spPr>
        <p:txBody>
          <a:bodyPr wrap="square" lIns="0" tIns="0" rIns="0" bIns="0" rtlCol="0" anchor="t"/>
          <a:lstStyle/>
          <a:p>
            <a:pPr indent="0" marL="0">
              <a:buNone/>
            </a:pPr>
            <a:r>
              <a:rPr lang="en-US" sz="1200" dirty="0">
                <a:solidFill>
                  <a:schemeClr val="tx2"/>
                </a:solidFill>
              </a:rPr>
              <a:t>What if something goes wrong inside?</a:t>
            </a:r>
            <a:endParaRPr lang="en-US" sz="1200" dirty="0"/>
          </a:p>
        </p:txBody>
      </p:sp>
      <p:sp>
        <p:nvSpPr>
          <p:cNvPr id="14" name="text-53"/>
          <p:cNvSpPr txBox="1"/>
          <p:nvPr/>
        </p:nvSpPr>
        <p:spPr>
          <a:xfrm>
            <a:off x="3429000" y="2377440"/>
            <a:ext cx="2240280" cy="274320"/>
          </a:xfrm>
          <a:prstGeom prst="rect">
            <a:avLst/>
          </a:prstGeom>
          <a:noFill/>
          <a:ln/>
        </p:spPr>
        <p:txBody>
          <a:bodyPr wrap="square" lIns="0" tIns="0" rIns="0" bIns="0" rtlCol="0" anchor="t"/>
          <a:lstStyle/>
          <a:p>
            <a:pPr indent="0" marL="0">
              <a:buNone/>
            </a:pPr>
            <a:r>
              <a:rPr lang="en-US" sz="1100" b="1" dirty="0">
                <a:solidFill>
                  <a:schemeClr val="accent4"/>
                </a:solidFill>
              </a:rPr>
              <a:t>conditions 6-8</a:t>
            </a:r>
            <a:endParaRPr lang="en-US" sz="1100" dirty="0"/>
          </a:p>
        </p:txBody>
      </p:sp>
      <p:sp>
        <p:nvSpPr>
          <p:cNvPr id="15" name="card-54"/>
          <p:cNvSpPr/>
          <p:nvPr/>
        </p:nvSpPr>
        <p:spPr>
          <a:xfrm>
            <a:off x="6035040" y="1143000"/>
            <a:ext cx="2606040" cy="1600200"/>
          </a:xfrm>
          <a:prstGeom prst="roundRect">
            <a:avLst>
              <a:gd name="adj" fmla="val 4571"/>
            </a:avLst>
          </a:prstGeom>
          <a:solidFill>
            <a:schemeClr val="bg2"/>
          </a:solidFill>
          <a:ln w="12700">
            <a:solidFill>
              <a:schemeClr val="bg2"/>
            </a:solidFill>
            <a:prstDash val="solid"/>
          </a:ln>
        </p:spPr>
      </p:sp>
      <p:sp>
        <p:nvSpPr>
          <p:cNvPr id="16" name="letter-55"/>
          <p:cNvSpPr/>
          <p:nvPr/>
        </p:nvSpPr>
        <p:spPr>
          <a:xfrm>
            <a:off x="6217920" y="1325880"/>
            <a:ext cx="457200" cy="457200"/>
          </a:xfrm>
          <a:prstGeom prst="ellipse">
            <a:avLst/>
          </a:prstGeom>
          <a:solidFill>
            <a:schemeClr val="tx1"/>
          </a:solidFill>
          <a:ln w="12700">
            <a:solidFill>
              <a:schemeClr val="tx1"/>
            </a:solidFill>
            <a:prstDash val="solid"/>
          </a:ln>
        </p:spPr>
      </p:sp>
      <p:sp>
        <p:nvSpPr>
          <p:cNvPr id="17" name="text-56"/>
          <p:cNvSpPr txBox="1"/>
          <p:nvPr/>
        </p:nvSpPr>
        <p:spPr>
          <a:xfrm>
            <a:off x="6217920" y="1325880"/>
            <a:ext cx="457200" cy="457200"/>
          </a:xfrm>
          <a:prstGeom prst="rect">
            <a:avLst/>
          </a:prstGeom>
          <a:noFill/>
          <a:ln/>
        </p:spPr>
        <p:txBody>
          <a:bodyPr wrap="square" lIns="0" tIns="0" rIns="0" bIns="0" rtlCol="0" anchor="ctr"/>
          <a:lstStyle/>
          <a:p>
            <a:pPr algn="ctr" indent="0" marL="0">
              <a:buNone/>
            </a:pPr>
            <a:r>
              <a:rPr lang="en-US" sz="1800" b="1" dirty="0">
                <a:solidFill>
                  <a:schemeClr val="accent1"/>
                </a:solidFill>
              </a:rPr>
              <a:t>C</a:t>
            </a:r>
            <a:endParaRPr lang="en-US" sz="1800" dirty="0"/>
          </a:p>
        </p:txBody>
      </p:sp>
      <p:sp>
        <p:nvSpPr>
          <p:cNvPr id="18" name="text-57"/>
          <p:cNvSpPr txBox="1"/>
          <p:nvPr/>
        </p:nvSpPr>
        <p:spPr>
          <a:xfrm>
            <a:off x="6812280" y="1325880"/>
            <a:ext cx="1737360" cy="457200"/>
          </a:xfrm>
          <a:prstGeom prst="rect">
            <a:avLst/>
          </a:prstGeom>
          <a:noFill/>
          <a:ln/>
        </p:spPr>
        <p:txBody>
          <a:bodyPr wrap="square" lIns="0" tIns="0" rIns="0" bIns="0" rtlCol="0" anchor="ctr"/>
          <a:lstStyle/>
          <a:p>
            <a:pPr indent="0" marL="0">
              <a:buNone/>
            </a:pPr>
            <a:r>
              <a:rPr lang="en-US" sz="1500" b="1" dirty="0">
                <a:solidFill>
                  <a:schemeClr val="tx1"/>
                </a:solidFill>
              </a:rPr>
              <a:t>Detection by absence</a:t>
            </a:r>
            <a:endParaRPr lang="en-US" sz="1500" dirty="0"/>
          </a:p>
        </p:txBody>
      </p:sp>
      <p:sp>
        <p:nvSpPr>
          <p:cNvPr id="19" name="text-58"/>
          <p:cNvSpPr txBox="1"/>
          <p:nvPr/>
        </p:nvSpPr>
        <p:spPr>
          <a:xfrm>
            <a:off x="6217920" y="1920240"/>
            <a:ext cx="2240280" cy="457200"/>
          </a:xfrm>
          <a:prstGeom prst="rect">
            <a:avLst/>
          </a:prstGeom>
          <a:noFill/>
          <a:ln/>
        </p:spPr>
        <p:txBody>
          <a:bodyPr wrap="square" lIns="0" tIns="0" rIns="0" bIns="0" rtlCol="0" anchor="t"/>
          <a:lstStyle/>
          <a:p>
            <a:pPr indent="0" marL="0">
              <a:buNone/>
            </a:pPr>
            <a:r>
              <a:rPr lang="en-US" sz="1200" dirty="0">
                <a:solidFill>
                  <a:schemeClr val="tx2"/>
                </a:solidFill>
              </a:rPr>
              <a:t>Was a 'cleared' complaint really cleared?</a:t>
            </a:r>
            <a:endParaRPr lang="en-US" sz="1200" dirty="0"/>
          </a:p>
        </p:txBody>
      </p:sp>
      <p:sp>
        <p:nvSpPr>
          <p:cNvPr id="20" name="text-59"/>
          <p:cNvSpPr txBox="1"/>
          <p:nvPr/>
        </p:nvSpPr>
        <p:spPr>
          <a:xfrm>
            <a:off x="6217920" y="2377440"/>
            <a:ext cx="2240280" cy="274320"/>
          </a:xfrm>
          <a:prstGeom prst="rect">
            <a:avLst/>
          </a:prstGeom>
          <a:noFill/>
          <a:ln/>
        </p:spPr>
        <p:txBody>
          <a:bodyPr wrap="square" lIns="0" tIns="0" rIns="0" bIns="0" rtlCol="0" anchor="t"/>
          <a:lstStyle/>
          <a:p>
            <a:pPr indent="0" marL="0">
              <a:buNone/>
            </a:pPr>
            <a:r>
              <a:rPr lang="en-US" sz="1100" b="1" dirty="0">
                <a:solidFill>
                  <a:schemeClr val="accent4"/>
                </a:solidFill>
              </a:rPr>
              <a:t>conditions 9-12</a:t>
            </a:r>
            <a:endParaRPr lang="en-US" sz="1100" dirty="0"/>
          </a:p>
        </p:txBody>
      </p:sp>
      <p:sp>
        <p:nvSpPr>
          <p:cNvPr id="21" name="card-60"/>
          <p:cNvSpPr/>
          <p:nvPr/>
        </p:nvSpPr>
        <p:spPr>
          <a:xfrm>
            <a:off x="457200" y="2926080"/>
            <a:ext cx="2606040" cy="1600200"/>
          </a:xfrm>
          <a:prstGeom prst="roundRect">
            <a:avLst>
              <a:gd name="adj" fmla="val 4571"/>
            </a:avLst>
          </a:prstGeom>
          <a:solidFill>
            <a:schemeClr val="bg2"/>
          </a:solidFill>
          <a:ln w="12700">
            <a:solidFill>
              <a:schemeClr val="bg2"/>
            </a:solidFill>
            <a:prstDash val="solid"/>
          </a:ln>
        </p:spPr>
      </p:sp>
      <p:sp>
        <p:nvSpPr>
          <p:cNvPr id="22" name="letter-61"/>
          <p:cNvSpPr/>
          <p:nvPr/>
        </p:nvSpPr>
        <p:spPr>
          <a:xfrm>
            <a:off x="640080" y="3108960"/>
            <a:ext cx="457200" cy="457200"/>
          </a:xfrm>
          <a:prstGeom prst="ellipse">
            <a:avLst/>
          </a:prstGeom>
          <a:solidFill>
            <a:schemeClr val="tx1"/>
          </a:solidFill>
          <a:ln w="12700">
            <a:solidFill>
              <a:schemeClr val="tx1"/>
            </a:solidFill>
            <a:prstDash val="solid"/>
          </a:ln>
        </p:spPr>
      </p:sp>
      <p:sp>
        <p:nvSpPr>
          <p:cNvPr id="23" name="text-62"/>
          <p:cNvSpPr txBox="1"/>
          <p:nvPr/>
        </p:nvSpPr>
        <p:spPr>
          <a:xfrm>
            <a:off x="640080" y="3108960"/>
            <a:ext cx="457200" cy="457200"/>
          </a:xfrm>
          <a:prstGeom prst="rect">
            <a:avLst/>
          </a:prstGeom>
          <a:noFill/>
          <a:ln/>
        </p:spPr>
        <p:txBody>
          <a:bodyPr wrap="square" lIns="0" tIns="0" rIns="0" bIns="0" rtlCol="0" anchor="ctr"/>
          <a:lstStyle/>
          <a:p>
            <a:pPr algn="ctr" indent="0" marL="0">
              <a:buNone/>
            </a:pPr>
            <a:r>
              <a:rPr lang="en-US" sz="1800" b="1" dirty="0">
                <a:solidFill>
                  <a:schemeClr val="accent1"/>
                </a:solidFill>
              </a:rPr>
              <a:t>D</a:t>
            </a:r>
            <a:endParaRPr lang="en-US" sz="1800" dirty="0"/>
          </a:p>
        </p:txBody>
      </p:sp>
      <p:sp>
        <p:nvSpPr>
          <p:cNvPr id="24" name="text-63"/>
          <p:cNvSpPr txBox="1"/>
          <p:nvPr/>
        </p:nvSpPr>
        <p:spPr>
          <a:xfrm>
            <a:off x="1234440" y="3108960"/>
            <a:ext cx="1737360" cy="457200"/>
          </a:xfrm>
          <a:prstGeom prst="rect">
            <a:avLst/>
          </a:prstGeom>
          <a:noFill/>
          <a:ln/>
        </p:spPr>
        <p:txBody>
          <a:bodyPr wrap="square" lIns="0" tIns="0" rIns="0" bIns="0" rtlCol="0" anchor="ctr"/>
          <a:lstStyle/>
          <a:p>
            <a:pPr indent="0" marL="0">
              <a:buNone/>
            </a:pPr>
            <a:r>
              <a:rPr lang="en-US" sz="1500" b="1" dirty="0">
                <a:solidFill>
                  <a:schemeClr val="tx1"/>
                </a:solidFill>
              </a:rPr>
              <a:t>Money and consequences</a:t>
            </a:r>
            <a:endParaRPr lang="en-US" sz="1500" dirty="0"/>
          </a:p>
        </p:txBody>
      </p:sp>
      <p:sp>
        <p:nvSpPr>
          <p:cNvPr id="25" name="text-64"/>
          <p:cNvSpPr txBox="1"/>
          <p:nvPr/>
        </p:nvSpPr>
        <p:spPr>
          <a:xfrm>
            <a:off x="640080" y="3703320"/>
            <a:ext cx="2240280" cy="457200"/>
          </a:xfrm>
          <a:prstGeom prst="rect">
            <a:avLst/>
          </a:prstGeom>
          <a:noFill/>
          <a:ln/>
        </p:spPr>
        <p:txBody>
          <a:bodyPr wrap="square" lIns="0" tIns="0" rIns="0" bIns="0" rtlCol="0" anchor="t"/>
          <a:lstStyle/>
          <a:p>
            <a:pPr indent="0" marL="0">
              <a:buNone/>
            </a:pPr>
            <a:r>
              <a:rPr lang="en-US" sz="1200" dirty="0">
                <a:solidFill>
                  <a:schemeClr val="tx2"/>
                </a:solidFill>
              </a:rPr>
              <a:t>Who pays, and what happens after a death?</a:t>
            </a:r>
            <a:endParaRPr lang="en-US" sz="1200" dirty="0"/>
          </a:p>
        </p:txBody>
      </p:sp>
      <p:sp>
        <p:nvSpPr>
          <p:cNvPr id="26" name="text-65"/>
          <p:cNvSpPr txBox="1"/>
          <p:nvPr/>
        </p:nvSpPr>
        <p:spPr>
          <a:xfrm>
            <a:off x="640080" y="4160520"/>
            <a:ext cx="2240280" cy="274320"/>
          </a:xfrm>
          <a:prstGeom prst="rect">
            <a:avLst/>
          </a:prstGeom>
          <a:noFill/>
          <a:ln/>
        </p:spPr>
        <p:txBody>
          <a:bodyPr wrap="square" lIns="0" tIns="0" rIns="0" bIns="0" rtlCol="0" anchor="t"/>
          <a:lstStyle/>
          <a:p>
            <a:pPr indent="0" marL="0">
              <a:buNone/>
            </a:pPr>
            <a:r>
              <a:rPr lang="en-US" sz="1100" b="1" dirty="0">
                <a:solidFill>
                  <a:schemeClr val="accent4"/>
                </a:solidFill>
              </a:rPr>
              <a:t>conditions 13-15</a:t>
            </a:r>
            <a:endParaRPr lang="en-US" sz="1100" dirty="0"/>
          </a:p>
        </p:txBody>
      </p:sp>
      <p:sp>
        <p:nvSpPr>
          <p:cNvPr id="27" name="card-66"/>
          <p:cNvSpPr/>
          <p:nvPr/>
        </p:nvSpPr>
        <p:spPr>
          <a:xfrm>
            <a:off x="3246120" y="2926080"/>
            <a:ext cx="2606040" cy="1600200"/>
          </a:xfrm>
          <a:prstGeom prst="roundRect">
            <a:avLst>
              <a:gd name="adj" fmla="val 4571"/>
            </a:avLst>
          </a:prstGeom>
          <a:solidFill>
            <a:schemeClr val="bg2"/>
          </a:solidFill>
          <a:ln w="12700">
            <a:solidFill>
              <a:schemeClr val="bg2"/>
            </a:solidFill>
            <a:prstDash val="solid"/>
          </a:ln>
        </p:spPr>
      </p:sp>
      <p:sp>
        <p:nvSpPr>
          <p:cNvPr id="28" name="letter-67"/>
          <p:cNvSpPr/>
          <p:nvPr/>
        </p:nvSpPr>
        <p:spPr>
          <a:xfrm>
            <a:off x="3429000" y="3108960"/>
            <a:ext cx="457200" cy="457200"/>
          </a:xfrm>
          <a:prstGeom prst="ellipse">
            <a:avLst/>
          </a:prstGeom>
          <a:solidFill>
            <a:schemeClr val="tx1"/>
          </a:solidFill>
          <a:ln w="12700">
            <a:solidFill>
              <a:schemeClr val="tx1"/>
            </a:solidFill>
            <a:prstDash val="solid"/>
          </a:ln>
        </p:spPr>
      </p:sp>
      <p:sp>
        <p:nvSpPr>
          <p:cNvPr id="29" name="text-68"/>
          <p:cNvSpPr txBox="1"/>
          <p:nvPr/>
        </p:nvSpPr>
        <p:spPr>
          <a:xfrm>
            <a:off x="3429000" y="3108960"/>
            <a:ext cx="457200" cy="457200"/>
          </a:xfrm>
          <a:prstGeom prst="rect">
            <a:avLst/>
          </a:prstGeom>
          <a:noFill/>
          <a:ln/>
        </p:spPr>
        <p:txBody>
          <a:bodyPr wrap="square" lIns="0" tIns="0" rIns="0" bIns="0" rtlCol="0" anchor="ctr"/>
          <a:lstStyle/>
          <a:p>
            <a:pPr algn="ctr" indent="0" marL="0">
              <a:buNone/>
            </a:pPr>
            <a:r>
              <a:rPr lang="en-US" sz="1800" b="1" dirty="0">
                <a:solidFill>
                  <a:schemeClr val="accent1"/>
                </a:solidFill>
              </a:rPr>
              <a:t>E</a:t>
            </a:r>
            <a:endParaRPr lang="en-US" sz="1800" dirty="0"/>
          </a:p>
        </p:txBody>
      </p:sp>
      <p:sp>
        <p:nvSpPr>
          <p:cNvPr id="30" name="text-69"/>
          <p:cNvSpPr txBox="1"/>
          <p:nvPr/>
        </p:nvSpPr>
        <p:spPr>
          <a:xfrm>
            <a:off x="4023360" y="3108960"/>
            <a:ext cx="1737360" cy="457200"/>
          </a:xfrm>
          <a:prstGeom prst="rect">
            <a:avLst/>
          </a:prstGeom>
          <a:noFill/>
          <a:ln/>
        </p:spPr>
        <p:txBody>
          <a:bodyPr wrap="square" lIns="0" tIns="0" rIns="0" bIns="0" rtlCol="0" anchor="ctr"/>
          <a:lstStyle/>
          <a:p>
            <a:pPr indent="0" marL="0">
              <a:buNone/>
            </a:pPr>
            <a:r>
              <a:rPr lang="en-US" sz="1500" b="1" dirty="0">
                <a:solidFill>
                  <a:schemeClr val="tx1"/>
                </a:solidFill>
              </a:rPr>
              <a:t>Concurrency</a:t>
            </a:r>
            <a:endParaRPr lang="en-US" sz="1500" dirty="0"/>
          </a:p>
        </p:txBody>
      </p:sp>
      <p:sp>
        <p:nvSpPr>
          <p:cNvPr id="31" name="text-70"/>
          <p:cNvSpPr txBox="1"/>
          <p:nvPr/>
        </p:nvSpPr>
        <p:spPr>
          <a:xfrm>
            <a:off x="3429000" y="3703320"/>
            <a:ext cx="2240280" cy="457200"/>
          </a:xfrm>
          <a:prstGeom prst="rect">
            <a:avLst/>
          </a:prstGeom>
          <a:noFill/>
          <a:ln/>
        </p:spPr>
        <p:txBody>
          <a:bodyPr wrap="square" lIns="0" tIns="0" rIns="0" bIns="0" rtlCol="0" anchor="t"/>
          <a:lstStyle/>
          <a:p>
            <a:pPr indent="0" marL="0">
              <a:buNone/>
            </a:pPr>
            <a:r>
              <a:rPr lang="en-US" sz="1200" dirty="0">
                <a:solidFill>
                  <a:schemeClr val="tx2"/>
                </a:solidFill>
              </a:rPr>
              <a:t>Two people act at the same instant</a:t>
            </a:r>
            <a:endParaRPr lang="en-US" sz="1200" dirty="0"/>
          </a:p>
        </p:txBody>
      </p:sp>
      <p:sp>
        <p:nvSpPr>
          <p:cNvPr id="32" name="text-71"/>
          <p:cNvSpPr txBox="1"/>
          <p:nvPr/>
        </p:nvSpPr>
        <p:spPr>
          <a:xfrm>
            <a:off x="3429000" y="4160520"/>
            <a:ext cx="2240280" cy="274320"/>
          </a:xfrm>
          <a:prstGeom prst="rect">
            <a:avLst/>
          </a:prstGeom>
          <a:noFill/>
          <a:ln/>
        </p:spPr>
        <p:txBody>
          <a:bodyPr wrap="square" lIns="0" tIns="0" rIns="0" bIns="0" rtlCol="0" anchor="t"/>
          <a:lstStyle/>
          <a:p>
            <a:pPr indent="0" marL="0">
              <a:buNone/>
            </a:pPr>
            <a:r>
              <a:rPr lang="en-US" sz="1100" b="1" dirty="0">
                <a:solidFill>
                  <a:schemeClr val="accent4"/>
                </a:solidFill>
              </a:rPr>
              <a:t>conditions 16-17</a:t>
            </a:r>
            <a:endParaRPr lang="en-US" sz="1100" dirty="0"/>
          </a:p>
        </p:txBody>
      </p:sp>
      <p:sp>
        <p:nvSpPr>
          <p:cNvPr id="33" name="card-72"/>
          <p:cNvSpPr/>
          <p:nvPr/>
        </p:nvSpPr>
        <p:spPr>
          <a:xfrm>
            <a:off x="6035040" y="2926080"/>
            <a:ext cx="2606040" cy="1600200"/>
          </a:xfrm>
          <a:prstGeom prst="roundRect">
            <a:avLst>
              <a:gd name="adj" fmla="val 4571"/>
            </a:avLst>
          </a:prstGeom>
          <a:solidFill>
            <a:schemeClr val="bg2"/>
          </a:solidFill>
          <a:ln w="12700">
            <a:solidFill>
              <a:schemeClr val="bg2"/>
            </a:solidFill>
            <a:prstDash val="solid"/>
          </a:ln>
        </p:spPr>
      </p:sp>
      <p:sp>
        <p:nvSpPr>
          <p:cNvPr id="34" name="letter-73"/>
          <p:cNvSpPr/>
          <p:nvPr/>
        </p:nvSpPr>
        <p:spPr>
          <a:xfrm>
            <a:off x="6217920" y="3108960"/>
            <a:ext cx="457200" cy="457200"/>
          </a:xfrm>
          <a:prstGeom prst="ellipse">
            <a:avLst/>
          </a:prstGeom>
          <a:solidFill>
            <a:schemeClr val="tx1"/>
          </a:solidFill>
          <a:ln w="12700">
            <a:solidFill>
              <a:schemeClr val="tx1"/>
            </a:solidFill>
            <a:prstDash val="solid"/>
          </a:ln>
        </p:spPr>
      </p:sp>
      <p:sp>
        <p:nvSpPr>
          <p:cNvPr id="35" name="text-74"/>
          <p:cNvSpPr txBox="1"/>
          <p:nvPr/>
        </p:nvSpPr>
        <p:spPr>
          <a:xfrm>
            <a:off x="6217920" y="3108960"/>
            <a:ext cx="457200" cy="457200"/>
          </a:xfrm>
          <a:prstGeom prst="rect">
            <a:avLst/>
          </a:prstGeom>
          <a:noFill/>
          <a:ln/>
        </p:spPr>
        <p:txBody>
          <a:bodyPr wrap="square" lIns="0" tIns="0" rIns="0" bIns="0" rtlCol="0" anchor="ctr"/>
          <a:lstStyle/>
          <a:p>
            <a:pPr algn="ctr" indent="0" marL="0">
              <a:buNone/>
            </a:pPr>
            <a:r>
              <a:rPr lang="en-US" sz="1800" b="1" dirty="0">
                <a:solidFill>
                  <a:schemeClr val="accent1"/>
                </a:solidFill>
              </a:rPr>
              <a:t>F</a:t>
            </a:r>
            <a:endParaRPr lang="en-US" sz="1800" dirty="0"/>
          </a:p>
        </p:txBody>
      </p:sp>
      <p:sp>
        <p:nvSpPr>
          <p:cNvPr id="36" name="text-75"/>
          <p:cNvSpPr txBox="1"/>
          <p:nvPr/>
        </p:nvSpPr>
        <p:spPr>
          <a:xfrm>
            <a:off x="6812280" y="3108960"/>
            <a:ext cx="1737360" cy="457200"/>
          </a:xfrm>
          <a:prstGeom prst="rect">
            <a:avLst/>
          </a:prstGeom>
          <a:noFill/>
          <a:ln/>
        </p:spPr>
        <p:txBody>
          <a:bodyPr wrap="square" lIns="0" tIns="0" rIns="0" bIns="0" rtlCol="0" anchor="ctr"/>
          <a:lstStyle/>
          <a:p>
            <a:pPr indent="0" marL="0">
              <a:buNone/>
            </a:pPr>
            <a:r>
              <a:rPr lang="en-US" sz="1500" b="1" dirty="0">
                <a:solidFill>
                  <a:schemeClr val="tx1"/>
                </a:solidFill>
              </a:rPr>
              <a:t>Security</a:t>
            </a:r>
            <a:endParaRPr lang="en-US" sz="1500" dirty="0"/>
          </a:p>
        </p:txBody>
      </p:sp>
      <p:sp>
        <p:nvSpPr>
          <p:cNvPr id="37" name="text-76"/>
          <p:cNvSpPr txBox="1"/>
          <p:nvPr/>
        </p:nvSpPr>
        <p:spPr>
          <a:xfrm>
            <a:off x="6217920" y="3703320"/>
            <a:ext cx="2240280" cy="457200"/>
          </a:xfrm>
          <a:prstGeom prst="rect">
            <a:avLst/>
          </a:prstGeom>
          <a:noFill/>
          <a:ln/>
        </p:spPr>
        <p:txBody>
          <a:bodyPr wrap="square" lIns="0" tIns="0" rIns="0" bIns="0" rtlCol="0" anchor="t"/>
          <a:lstStyle/>
          <a:p>
            <a:pPr indent="0" marL="0">
              <a:buNone/>
            </a:pPr>
            <a:r>
              <a:rPr lang="en-US" sz="1200" dirty="0">
                <a:solidFill>
                  <a:schemeClr val="tx2"/>
                </a:solidFill>
              </a:rPr>
              <a:t>Who sees what; can the app rewrite history?</a:t>
            </a:r>
            <a:endParaRPr lang="en-US" sz="1200" dirty="0"/>
          </a:p>
        </p:txBody>
      </p:sp>
      <p:sp>
        <p:nvSpPr>
          <p:cNvPr id="38" name="text-77"/>
          <p:cNvSpPr txBox="1"/>
          <p:nvPr/>
        </p:nvSpPr>
        <p:spPr>
          <a:xfrm>
            <a:off x="6217920" y="4160520"/>
            <a:ext cx="2240280" cy="274320"/>
          </a:xfrm>
          <a:prstGeom prst="rect">
            <a:avLst/>
          </a:prstGeom>
          <a:noFill/>
          <a:ln/>
        </p:spPr>
        <p:txBody>
          <a:bodyPr wrap="square" lIns="0" tIns="0" rIns="0" bIns="0" rtlCol="0" anchor="t"/>
          <a:lstStyle/>
          <a:p>
            <a:pPr indent="0" marL="0">
              <a:buNone/>
            </a:pPr>
            <a:r>
              <a:rPr lang="en-US" sz="1100" b="1" dirty="0">
                <a:solidFill>
                  <a:schemeClr val="accent4"/>
                </a:solidFill>
              </a:rPr>
              <a:t>conditions 18-19</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Nobody enters until all 11 checks pass</a:t>
            </a:r>
            <a:endParaRPr lang="en-US" sz="2600" dirty="0"/>
          </a:p>
        </p:txBody>
      </p:sp>
      <p:sp>
        <p:nvSpPr>
          <p:cNvPr id="3" name="dot-78"/>
          <p:cNvSpPr/>
          <p:nvPr/>
        </p:nvSpPr>
        <p:spPr>
          <a:xfrm>
            <a:off x="457200" y="1133856"/>
            <a:ext cx="201168" cy="201168"/>
          </a:xfrm>
          <a:prstGeom prst="ellipse">
            <a:avLst/>
          </a:prstGeom>
          <a:solidFill>
            <a:schemeClr val="accent3"/>
          </a:solidFill>
          <a:ln w="12700">
            <a:solidFill>
              <a:schemeClr val="accent3"/>
            </a:solidFill>
            <a:prstDash val="solid"/>
          </a:ln>
        </p:spPr>
      </p:sp>
      <p:sp>
        <p:nvSpPr>
          <p:cNvPr id="4" name="text-79"/>
          <p:cNvSpPr txBox="1"/>
          <p:nvPr/>
        </p:nvSpPr>
        <p:spPr>
          <a:xfrm>
            <a:off x="777240" y="1097280"/>
            <a:ext cx="3566160" cy="274320"/>
          </a:xfrm>
          <a:prstGeom prst="rect">
            <a:avLst/>
          </a:prstGeom>
          <a:noFill/>
          <a:ln/>
        </p:spPr>
        <p:txBody>
          <a:bodyPr wrap="square" lIns="0" tIns="0" rIns="0" bIns="0" rtlCol="0" anchor="ctr"/>
          <a:lstStyle/>
          <a:p>
            <a:pPr indent="0" marL="0">
              <a:buNone/>
            </a:pPr>
            <a:r>
              <a:rPr lang="en-US" sz="1300" dirty="0">
                <a:solidFill>
                  <a:schemeClr val="tx1"/>
                </a:solidFill>
              </a:rPr>
              <a:t>Written mechanisation waiver</a:t>
            </a:r>
            <a:endParaRPr lang="en-US" sz="1300" dirty="0"/>
          </a:p>
        </p:txBody>
      </p:sp>
      <p:sp>
        <p:nvSpPr>
          <p:cNvPr id="5" name="dot-80"/>
          <p:cNvSpPr/>
          <p:nvPr/>
        </p:nvSpPr>
        <p:spPr>
          <a:xfrm>
            <a:off x="457200" y="1435608"/>
            <a:ext cx="201168" cy="201168"/>
          </a:xfrm>
          <a:prstGeom prst="ellipse">
            <a:avLst/>
          </a:prstGeom>
          <a:solidFill>
            <a:schemeClr val="accent3"/>
          </a:solidFill>
          <a:ln w="12700">
            <a:solidFill>
              <a:schemeClr val="accent3"/>
            </a:solidFill>
            <a:prstDash val="solid"/>
          </a:ln>
        </p:spPr>
      </p:sp>
      <p:sp>
        <p:nvSpPr>
          <p:cNvPr id="6" name="text-81"/>
          <p:cNvSpPr txBox="1"/>
          <p:nvPr/>
        </p:nvSpPr>
        <p:spPr>
          <a:xfrm>
            <a:off x="777240" y="1399032"/>
            <a:ext cx="3566160" cy="274320"/>
          </a:xfrm>
          <a:prstGeom prst="rect">
            <a:avLst/>
          </a:prstGeom>
          <a:noFill/>
          <a:ln/>
        </p:spPr>
        <p:txBody>
          <a:bodyPr wrap="square" lIns="0" tIns="0" rIns="0" bIns="0" rtlCol="0" anchor="ctr"/>
          <a:lstStyle/>
          <a:p>
            <a:pPr indent="0" marL="0">
              <a:buNone/>
            </a:pPr>
            <a:r>
              <a:rPr lang="en-US" sz="1300" dirty="0">
                <a:solidFill>
                  <a:schemeClr val="tx1"/>
                </a:solidFill>
              </a:rPr>
              <a:t>Contractor active, licence valid</a:t>
            </a:r>
            <a:endParaRPr lang="en-US" sz="1300" dirty="0"/>
          </a:p>
        </p:txBody>
      </p:sp>
      <p:sp>
        <p:nvSpPr>
          <p:cNvPr id="7" name="dot-82"/>
          <p:cNvSpPr/>
          <p:nvPr/>
        </p:nvSpPr>
        <p:spPr>
          <a:xfrm>
            <a:off x="457200" y="1737360"/>
            <a:ext cx="201168" cy="201168"/>
          </a:xfrm>
          <a:prstGeom prst="ellipse">
            <a:avLst/>
          </a:prstGeom>
          <a:solidFill>
            <a:schemeClr val="accent3"/>
          </a:solidFill>
          <a:ln w="12700">
            <a:solidFill>
              <a:schemeClr val="accent3"/>
            </a:solidFill>
            <a:prstDash val="solid"/>
          </a:ln>
        </p:spPr>
      </p:sp>
      <p:sp>
        <p:nvSpPr>
          <p:cNvPr id="8" name="text-83"/>
          <p:cNvSpPr txBox="1"/>
          <p:nvPr/>
        </p:nvSpPr>
        <p:spPr>
          <a:xfrm>
            <a:off x="777240" y="1700784"/>
            <a:ext cx="3566160" cy="274320"/>
          </a:xfrm>
          <a:prstGeom prst="rect">
            <a:avLst/>
          </a:prstGeom>
          <a:noFill/>
          <a:ln/>
        </p:spPr>
        <p:txBody>
          <a:bodyPr wrap="square" lIns="0" tIns="0" rIns="0" bIns="0" rtlCol="0" anchor="ctr"/>
          <a:lstStyle/>
          <a:p>
            <a:pPr indent="0" marL="0">
              <a:buNone/>
            </a:pPr>
            <a:r>
              <a:rPr lang="en-US" sz="1300" dirty="0">
                <a:solidFill>
                  <a:schemeClr val="tx1"/>
                </a:solidFill>
              </a:rPr>
              <a:t>At least one entrant</a:t>
            </a:r>
            <a:endParaRPr lang="en-US" sz="1300" dirty="0"/>
          </a:p>
        </p:txBody>
      </p:sp>
      <p:sp>
        <p:nvSpPr>
          <p:cNvPr id="9" name="dot-84"/>
          <p:cNvSpPr/>
          <p:nvPr/>
        </p:nvSpPr>
        <p:spPr>
          <a:xfrm>
            <a:off x="457200" y="2039112"/>
            <a:ext cx="201168" cy="201168"/>
          </a:xfrm>
          <a:prstGeom prst="ellipse">
            <a:avLst/>
          </a:prstGeom>
          <a:solidFill>
            <a:schemeClr val="accent3"/>
          </a:solidFill>
          <a:ln w="12700">
            <a:solidFill>
              <a:schemeClr val="accent3"/>
            </a:solidFill>
            <a:prstDash val="solid"/>
          </a:ln>
        </p:spPr>
      </p:sp>
      <p:sp>
        <p:nvSpPr>
          <p:cNvPr id="10" name="text-85"/>
          <p:cNvSpPr txBox="1"/>
          <p:nvPr/>
        </p:nvSpPr>
        <p:spPr>
          <a:xfrm>
            <a:off x="777240" y="2002536"/>
            <a:ext cx="3566160" cy="274320"/>
          </a:xfrm>
          <a:prstGeom prst="rect">
            <a:avLst/>
          </a:prstGeom>
          <a:noFill/>
          <a:ln/>
        </p:spPr>
        <p:txBody>
          <a:bodyPr wrap="square" lIns="0" tIns="0" rIns="0" bIns="0" rtlCol="0" anchor="ctr"/>
          <a:lstStyle/>
          <a:p>
            <a:pPr indent="0" marL="0">
              <a:buNone/>
            </a:pPr>
            <a:r>
              <a:rPr lang="en-US" sz="1300" dirty="0">
                <a:solidFill>
                  <a:schemeClr val="tx1"/>
                </a:solidFill>
              </a:rPr>
              <a:t>A supervisor in the crew</a:t>
            </a:r>
            <a:endParaRPr lang="en-US" sz="1300" dirty="0"/>
          </a:p>
        </p:txBody>
      </p:sp>
      <p:sp>
        <p:nvSpPr>
          <p:cNvPr id="11" name="dot-86"/>
          <p:cNvSpPr/>
          <p:nvPr/>
        </p:nvSpPr>
        <p:spPr>
          <a:xfrm>
            <a:off x="457200" y="2340864"/>
            <a:ext cx="201168" cy="201168"/>
          </a:xfrm>
          <a:prstGeom prst="ellipse">
            <a:avLst/>
          </a:prstGeom>
          <a:solidFill>
            <a:schemeClr val="accent2"/>
          </a:solidFill>
          <a:ln w="12700">
            <a:solidFill>
              <a:schemeClr val="accent2"/>
            </a:solidFill>
            <a:prstDash val="solid"/>
          </a:ln>
        </p:spPr>
      </p:sp>
      <p:sp>
        <p:nvSpPr>
          <p:cNvPr id="12" name="text-87"/>
          <p:cNvSpPr txBox="1"/>
          <p:nvPr/>
        </p:nvSpPr>
        <p:spPr>
          <a:xfrm>
            <a:off x="777240" y="2304288"/>
            <a:ext cx="3566160" cy="274320"/>
          </a:xfrm>
          <a:prstGeom prst="rect">
            <a:avLst/>
          </a:prstGeom>
          <a:noFill/>
          <a:ln/>
        </p:spPr>
        <p:txBody>
          <a:bodyPr wrap="square" lIns="0" tIns="0" rIns="0" bIns="0" rtlCol="0" anchor="ctr"/>
          <a:lstStyle/>
          <a:p>
            <a:pPr indent="0" marL="0">
              <a:buNone/>
            </a:pPr>
            <a:r>
              <a:rPr lang="en-US" sz="1300" b="1" dirty="0">
                <a:solidFill>
                  <a:schemeClr val="accent2"/>
                </a:solidFill>
              </a:rPr>
              <a:t>A standby who stays on top</a:t>
            </a:r>
            <a:endParaRPr lang="en-US" sz="1300" dirty="0"/>
          </a:p>
        </p:txBody>
      </p:sp>
      <p:sp>
        <p:nvSpPr>
          <p:cNvPr id="13" name="dot-88"/>
          <p:cNvSpPr/>
          <p:nvPr/>
        </p:nvSpPr>
        <p:spPr>
          <a:xfrm>
            <a:off x="457200" y="2642616"/>
            <a:ext cx="201168" cy="201168"/>
          </a:xfrm>
          <a:prstGeom prst="ellipse">
            <a:avLst/>
          </a:prstGeom>
          <a:solidFill>
            <a:schemeClr val="accent3"/>
          </a:solidFill>
          <a:ln w="12700">
            <a:solidFill>
              <a:schemeClr val="accent3"/>
            </a:solidFill>
            <a:prstDash val="solid"/>
          </a:ln>
        </p:spPr>
      </p:sp>
      <p:sp>
        <p:nvSpPr>
          <p:cNvPr id="14" name="text-89"/>
          <p:cNvSpPr txBox="1"/>
          <p:nvPr/>
        </p:nvSpPr>
        <p:spPr>
          <a:xfrm>
            <a:off x="777240" y="2606040"/>
            <a:ext cx="3566160" cy="274320"/>
          </a:xfrm>
          <a:prstGeom prst="rect">
            <a:avLst/>
          </a:prstGeom>
          <a:noFill/>
          <a:ln/>
        </p:spPr>
        <p:txBody>
          <a:bodyPr wrap="square" lIns="0" tIns="0" rIns="0" bIns="0" rtlCol="0" anchor="ctr"/>
          <a:lstStyle/>
          <a:p>
            <a:pPr indent="0" marL="0">
              <a:buNone/>
            </a:pPr>
            <a:r>
              <a:rPr lang="en-US" sz="1300" dirty="0">
                <a:solidFill>
                  <a:schemeClr val="tx1"/>
                </a:solidFill>
              </a:rPr>
              <a:t>Minimum crew of three</a:t>
            </a:r>
            <a:endParaRPr lang="en-US" sz="1300" dirty="0"/>
          </a:p>
        </p:txBody>
      </p:sp>
      <p:sp>
        <p:nvSpPr>
          <p:cNvPr id="15" name="dot-90"/>
          <p:cNvSpPr/>
          <p:nvPr/>
        </p:nvSpPr>
        <p:spPr>
          <a:xfrm>
            <a:off x="457200" y="2944368"/>
            <a:ext cx="201168" cy="201168"/>
          </a:xfrm>
          <a:prstGeom prst="ellipse">
            <a:avLst/>
          </a:prstGeom>
          <a:solidFill>
            <a:schemeClr val="accent3"/>
          </a:solidFill>
          <a:ln w="12700">
            <a:solidFill>
              <a:schemeClr val="accent3"/>
            </a:solidFill>
            <a:prstDash val="solid"/>
          </a:ln>
        </p:spPr>
      </p:sp>
      <p:sp>
        <p:nvSpPr>
          <p:cNvPr id="16" name="text-91"/>
          <p:cNvSpPr txBox="1"/>
          <p:nvPr/>
        </p:nvSpPr>
        <p:spPr>
          <a:xfrm>
            <a:off x="777240" y="2907792"/>
            <a:ext cx="3566160" cy="274320"/>
          </a:xfrm>
          <a:prstGeom prst="rect">
            <a:avLst/>
          </a:prstGeom>
          <a:noFill/>
          <a:ln/>
        </p:spPr>
        <p:txBody>
          <a:bodyPr wrap="square" lIns="0" tIns="0" rIns="0" bIns="0" rtlCol="0" anchor="ctr"/>
          <a:lstStyle/>
          <a:p>
            <a:pPr indent="0" marL="0">
              <a:buNone/>
            </a:pPr>
            <a:r>
              <a:rPr lang="en-US" sz="1300" dirty="0">
                <a:solidFill>
                  <a:schemeClr val="tx1"/>
                </a:solidFill>
              </a:rPr>
              <a:t>Crew medically fit and trained</a:t>
            </a:r>
            <a:endParaRPr lang="en-US" sz="1300" dirty="0"/>
          </a:p>
        </p:txBody>
      </p:sp>
      <p:sp>
        <p:nvSpPr>
          <p:cNvPr id="17" name="dot-92"/>
          <p:cNvSpPr/>
          <p:nvPr/>
        </p:nvSpPr>
        <p:spPr>
          <a:xfrm>
            <a:off x="457200" y="3246120"/>
            <a:ext cx="201168" cy="201168"/>
          </a:xfrm>
          <a:prstGeom prst="ellipse">
            <a:avLst/>
          </a:prstGeom>
          <a:solidFill>
            <a:schemeClr val="accent2"/>
          </a:solidFill>
          <a:ln w="12700">
            <a:solidFill>
              <a:schemeClr val="accent2"/>
            </a:solidFill>
            <a:prstDash val="solid"/>
          </a:ln>
        </p:spPr>
      </p:sp>
      <p:sp>
        <p:nvSpPr>
          <p:cNvPr id="18" name="text-93"/>
          <p:cNvSpPr txBox="1"/>
          <p:nvPr/>
        </p:nvSpPr>
        <p:spPr>
          <a:xfrm>
            <a:off x="777240" y="3209544"/>
            <a:ext cx="3566160" cy="274320"/>
          </a:xfrm>
          <a:prstGeom prst="rect">
            <a:avLst/>
          </a:prstGeom>
          <a:noFill/>
          <a:ln/>
        </p:spPr>
        <p:txBody>
          <a:bodyPr wrap="square" lIns="0" tIns="0" rIns="0" bIns="0" rtlCol="0" anchor="ctr"/>
          <a:lstStyle/>
          <a:p>
            <a:pPr indent="0" marL="0">
              <a:buNone/>
            </a:pPr>
            <a:r>
              <a:rPr lang="en-US" sz="1300" b="1" dirty="0">
                <a:solidFill>
                  <a:schemeClr val="accent2"/>
                </a:solidFill>
              </a:rPr>
              <a:t>Every entrant has every gear item</a:t>
            </a:r>
            <a:endParaRPr lang="en-US" sz="1300" dirty="0"/>
          </a:p>
        </p:txBody>
      </p:sp>
      <p:sp>
        <p:nvSpPr>
          <p:cNvPr id="19" name="dot-94"/>
          <p:cNvSpPr/>
          <p:nvPr/>
        </p:nvSpPr>
        <p:spPr>
          <a:xfrm>
            <a:off x="457200" y="3547872"/>
            <a:ext cx="201168" cy="201168"/>
          </a:xfrm>
          <a:prstGeom prst="ellipse">
            <a:avLst/>
          </a:prstGeom>
          <a:solidFill>
            <a:schemeClr val="accent2"/>
          </a:solidFill>
          <a:ln w="12700">
            <a:solidFill>
              <a:schemeClr val="accent2"/>
            </a:solidFill>
            <a:prstDash val="solid"/>
          </a:ln>
        </p:spPr>
      </p:sp>
      <p:sp>
        <p:nvSpPr>
          <p:cNvPr id="20" name="text-95"/>
          <p:cNvSpPr txBox="1"/>
          <p:nvPr/>
        </p:nvSpPr>
        <p:spPr>
          <a:xfrm>
            <a:off x="777240" y="3511296"/>
            <a:ext cx="3566160" cy="274320"/>
          </a:xfrm>
          <a:prstGeom prst="rect">
            <a:avLst/>
          </a:prstGeom>
          <a:noFill/>
          <a:ln/>
        </p:spPr>
        <p:txBody>
          <a:bodyPr wrap="square" lIns="0" tIns="0" rIns="0" bIns="0" rtlCol="0" anchor="ctr"/>
          <a:lstStyle/>
          <a:p>
            <a:pPr indent="0" marL="0">
              <a:buNone/>
            </a:pPr>
            <a:r>
              <a:rPr lang="en-US" sz="1300" b="1" dirty="0">
                <a:solidFill>
                  <a:schemeClr val="accent2"/>
                </a:solidFill>
              </a:rPr>
              <a:t>TOP gas reading fresh and safe</a:t>
            </a:r>
            <a:endParaRPr lang="en-US" sz="1300" dirty="0"/>
          </a:p>
        </p:txBody>
      </p:sp>
      <p:sp>
        <p:nvSpPr>
          <p:cNvPr id="21" name="dot-96"/>
          <p:cNvSpPr/>
          <p:nvPr/>
        </p:nvSpPr>
        <p:spPr>
          <a:xfrm>
            <a:off x="457200" y="3849624"/>
            <a:ext cx="201168" cy="201168"/>
          </a:xfrm>
          <a:prstGeom prst="ellipse">
            <a:avLst/>
          </a:prstGeom>
          <a:solidFill>
            <a:schemeClr val="accent2"/>
          </a:solidFill>
          <a:ln w="12700">
            <a:solidFill>
              <a:schemeClr val="accent2"/>
            </a:solidFill>
            <a:prstDash val="solid"/>
          </a:ln>
        </p:spPr>
      </p:sp>
      <p:sp>
        <p:nvSpPr>
          <p:cNvPr id="22" name="text-97"/>
          <p:cNvSpPr txBox="1"/>
          <p:nvPr/>
        </p:nvSpPr>
        <p:spPr>
          <a:xfrm>
            <a:off x="777240" y="3813048"/>
            <a:ext cx="3566160" cy="274320"/>
          </a:xfrm>
          <a:prstGeom prst="rect">
            <a:avLst/>
          </a:prstGeom>
          <a:noFill/>
          <a:ln/>
        </p:spPr>
        <p:txBody>
          <a:bodyPr wrap="square" lIns="0" tIns="0" rIns="0" bIns="0" rtlCol="0" anchor="ctr"/>
          <a:lstStyle/>
          <a:p>
            <a:pPr indent="0" marL="0">
              <a:buNone/>
            </a:pPr>
            <a:r>
              <a:rPr lang="en-US" sz="1300" b="1" dirty="0">
                <a:solidFill>
                  <a:schemeClr val="accent2"/>
                </a:solidFill>
              </a:rPr>
              <a:t>MID gas reading fresh and safe</a:t>
            </a:r>
            <a:endParaRPr lang="en-US" sz="1300" dirty="0"/>
          </a:p>
        </p:txBody>
      </p:sp>
      <p:sp>
        <p:nvSpPr>
          <p:cNvPr id="23" name="dot-98"/>
          <p:cNvSpPr/>
          <p:nvPr/>
        </p:nvSpPr>
        <p:spPr>
          <a:xfrm>
            <a:off x="457200" y="4151376"/>
            <a:ext cx="201168" cy="201168"/>
          </a:xfrm>
          <a:prstGeom prst="ellipse">
            <a:avLst/>
          </a:prstGeom>
          <a:solidFill>
            <a:schemeClr val="accent2"/>
          </a:solidFill>
          <a:ln w="12700">
            <a:solidFill>
              <a:schemeClr val="accent2"/>
            </a:solidFill>
            <a:prstDash val="solid"/>
          </a:ln>
        </p:spPr>
      </p:sp>
      <p:sp>
        <p:nvSpPr>
          <p:cNvPr id="24" name="text-99"/>
          <p:cNvSpPr txBox="1"/>
          <p:nvPr/>
        </p:nvSpPr>
        <p:spPr>
          <a:xfrm>
            <a:off x="777240" y="4114800"/>
            <a:ext cx="3566160" cy="274320"/>
          </a:xfrm>
          <a:prstGeom prst="rect">
            <a:avLst/>
          </a:prstGeom>
          <a:noFill/>
          <a:ln/>
        </p:spPr>
        <p:txBody>
          <a:bodyPr wrap="square" lIns="0" tIns="0" rIns="0" bIns="0" rtlCol="0" anchor="ctr"/>
          <a:lstStyle/>
          <a:p>
            <a:pPr indent="0" marL="0">
              <a:buNone/>
            </a:pPr>
            <a:r>
              <a:rPr lang="en-US" sz="1300" b="1" dirty="0">
                <a:solidFill>
                  <a:schemeClr val="accent2"/>
                </a:solidFill>
              </a:rPr>
              <a:t>BOTTOM gas reading fresh and safe</a:t>
            </a:r>
            <a:endParaRPr lang="en-US" sz="1300" dirty="0"/>
          </a:p>
        </p:txBody>
      </p:sp>
      <p:sp>
        <p:nvSpPr>
          <p:cNvPr id="25" name="badge-100"/>
          <p:cNvSpPr/>
          <p:nvPr/>
        </p:nvSpPr>
        <p:spPr>
          <a:xfrm>
            <a:off x="4663440" y="1097280"/>
            <a:ext cx="384048" cy="384048"/>
          </a:xfrm>
          <a:prstGeom prst="ellipse">
            <a:avLst/>
          </a:prstGeom>
          <a:solidFill>
            <a:schemeClr val="accent1"/>
          </a:solidFill>
          <a:ln w="12700">
            <a:solidFill>
              <a:schemeClr val="accent1"/>
            </a:solidFill>
            <a:prstDash val="solid"/>
          </a:ln>
        </p:spPr>
      </p:sp>
      <p:sp>
        <p:nvSpPr>
          <p:cNvPr id="26" name="badge-num-101"/>
          <p:cNvSpPr txBox="1"/>
          <p:nvPr/>
        </p:nvSpPr>
        <p:spPr>
          <a:xfrm>
            <a:off x="4663440" y="10972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01</a:t>
            </a:r>
            <a:endParaRPr lang="en-US" sz="1300" dirty="0"/>
          </a:p>
        </p:txBody>
      </p:sp>
      <p:sp>
        <p:nvSpPr>
          <p:cNvPr id="27" name="text-102"/>
          <p:cNvSpPr txBox="1"/>
          <p:nvPr/>
        </p:nvSpPr>
        <p:spPr>
          <a:xfrm>
            <a:off x="5166360" y="1097280"/>
            <a:ext cx="3520440" cy="411480"/>
          </a:xfrm>
          <a:prstGeom prst="rect">
            <a:avLst/>
          </a:prstGeom>
          <a:noFill/>
          <a:ln/>
        </p:spPr>
        <p:txBody>
          <a:bodyPr wrap="square" lIns="0" tIns="0" rIns="0" bIns="0" rtlCol="0" anchor="ctr"/>
          <a:lstStyle/>
          <a:p>
            <a:pPr indent="0" marL="0">
              <a:buNone/>
            </a:pPr>
            <a:r>
              <a:rPr lang="en-US" sz="1500" b="1" dirty="0">
                <a:solidFill>
                  <a:schemeClr val="tx1"/>
                </a:solidFill>
              </a:rPr>
              <a:t>Incomplete permit asks to be authorised</a:t>
            </a:r>
            <a:endParaRPr lang="en-US" sz="1500" dirty="0"/>
          </a:p>
        </p:txBody>
      </p:sp>
      <p:sp>
        <p:nvSpPr>
          <p:cNvPr id="28" name="pill-103"/>
          <p:cNvSpPr/>
          <p:nvPr/>
        </p:nvSpPr>
        <p:spPr>
          <a:xfrm>
            <a:off x="4663440" y="1600200"/>
            <a:ext cx="2377440" cy="292608"/>
          </a:xfrm>
          <a:prstGeom prst="roundRect">
            <a:avLst>
              <a:gd name="adj" fmla="val 50000"/>
            </a:avLst>
          </a:prstGeom>
          <a:solidFill>
            <a:schemeClr val="accent2"/>
          </a:solidFill>
          <a:ln w="12700">
            <a:solidFill>
              <a:schemeClr val="accent2"/>
            </a:solidFill>
            <a:prstDash val="solid"/>
          </a:ln>
        </p:spPr>
      </p:sp>
      <p:sp>
        <p:nvSpPr>
          <p:cNvPr id="29" name="pill-text-104"/>
          <p:cNvSpPr txBox="1"/>
          <p:nvPr/>
        </p:nvSpPr>
        <p:spPr>
          <a:xfrm>
            <a:off x="4663440" y="1600200"/>
            <a:ext cx="2377440" cy="292608"/>
          </a:xfrm>
          <a:prstGeom prst="rect">
            <a:avLst/>
          </a:prstGeom>
          <a:noFill/>
          <a:ln/>
        </p:spPr>
        <p:txBody>
          <a:bodyPr wrap="square" lIns="0" tIns="0" rIns="0" bIns="0" rtlCol="0" anchor="ctr"/>
          <a:lstStyle/>
          <a:p>
            <a:pPr algn="ctr" indent="0" marL="0">
              <a:buNone/>
            </a:pPr>
            <a:r>
              <a:rPr lang="en-US" sz="1100" b="1" dirty="0">
                <a:solidFill>
                  <a:schemeClr val="bg1"/>
                </a:solidFill>
              </a:rPr>
              <a:t>DENIED: 5 of 11 fail</a:t>
            </a:r>
            <a:endParaRPr lang="en-US" sz="1100" dirty="0"/>
          </a:p>
        </p:txBody>
      </p:sp>
      <p:sp>
        <p:nvSpPr>
          <p:cNvPr id="30" name="text-105"/>
          <p:cNvSpPr txBox="1"/>
          <p:nvPr/>
        </p:nvSpPr>
        <p:spPr>
          <a:xfrm>
            <a:off x="4663440" y="1965960"/>
            <a:ext cx="4023360" cy="457200"/>
          </a:xfrm>
          <a:prstGeom prst="rect">
            <a:avLst/>
          </a:prstGeom>
          <a:noFill/>
          <a:ln/>
        </p:spPr>
        <p:txBody>
          <a:bodyPr wrap="square" lIns="0" tIns="0" rIns="0" bIns="0" rtlCol="0" anchor="t"/>
          <a:lstStyle/>
          <a:p>
            <a:pPr indent="0" marL="0">
              <a:buNone/>
            </a:pPr>
            <a:r>
              <a:rPr lang="en-US" sz="1300" dirty="0">
                <a:solidFill>
                  <a:schemeClr val="tx2"/>
                </a:solidFill>
              </a:rPr>
              <a:t>authorise_entry() returns the checklist; the permit stays DRAFT.</a:t>
            </a:r>
            <a:endParaRPr lang="en-US" sz="1300" dirty="0"/>
          </a:p>
        </p:txBody>
      </p:sp>
      <p:sp>
        <p:nvSpPr>
          <p:cNvPr id="31" name="badge-106"/>
          <p:cNvSpPr/>
          <p:nvPr/>
        </p:nvSpPr>
        <p:spPr>
          <a:xfrm>
            <a:off x="4663440" y="2651760"/>
            <a:ext cx="384048" cy="384048"/>
          </a:xfrm>
          <a:prstGeom prst="ellipse">
            <a:avLst/>
          </a:prstGeom>
          <a:solidFill>
            <a:schemeClr val="accent1"/>
          </a:solidFill>
          <a:ln w="12700">
            <a:solidFill>
              <a:schemeClr val="accent1"/>
            </a:solidFill>
            <a:prstDash val="solid"/>
          </a:ln>
        </p:spPr>
      </p:sp>
      <p:sp>
        <p:nvSpPr>
          <p:cNvPr id="32" name="badge-num-107"/>
          <p:cNvSpPr txBox="1"/>
          <p:nvPr/>
        </p:nvSpPr>
        <p:spPr>
          <a:xfrm>
            <a:off x="4663440" y="265176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02</a:t>
            </a:r>
            <a:endParaRPr lang="en-US" sz="1300" dirty="0"/>
          </a:p>
        </p:txBody>
      </p:sp>
      <p:sp>
        <p:nvSpPr>
          <p:cNvPr id="33" name="text-108"/>
          <p:cNvSpPr txBox="1"/>
          <p:nvPr/>
        </p:nvSpPr>
        <p:spPr>
          <a:xfrm>
            <a:off x="5166360" y="2651760"/>
            <a:ext cx="3520440" cy="411480"/>
          </a:xfrm>
          <a:prstGeom prst="rect">
            <a:avLst/>
          </a:prstGeom>
          <a:noFill/>
          <a:ln/>
        </p:spPr>
        <p:txBody>
          <a:bodyPr wrap="square" lIns="0" tIns="0" rIns="0" bIns="0" rtlCol="0" anchor="ctr"/>
          <a:lstStyle/>
          <a:p>
            <a:pPr indent="0" marL="0">
              <a:buNone/>
            </a:pPr>
            <a:r>
              <a:rPr lang="en-US" sz="1500" b="1" dirty="0">
                <a:solidFill>
                  <a:schemeClr val="tx1"/>
                </a:solidFill>
              </a:rPr>
              <a:t>Raw SQL bypass as the database owner</a:t>
            </a:r>
            <a:endParaRPr lang="en-US" sz="1500" dirty="0"/>
          </a:p>
        </p:txBody>
      </p:sp>
      <p:sp>
        <p:nvSpPr>
          <p:cNvPr id="34" name="text-109"/>
          <p:cNvSpPr txBox="1"/>
          <p:nvPr/>
        </p:nvSpPr>
        <p:spPr>
          <a:xfrm>
            <a:off x="4663440" y="3154680"/>
            <a:ext cx="4023360" cy="274320"/>
          </a:xfrm>
          <a:prstGeom prst="rect">
            <a:avLst/>
          </a:prstGeom>
          <a:noFill/>
          <a:ln/>
        </p:spPr>
        <p:txBody>
          <a:bodyPr wrap="square" lIns="0" tIns="0" rIns="0" bIns="0" rtlCol="0" anchor="t"/>
          <a:lstStyle/>
          <a:p>
            <a:pPr indent="0" marL="0">
              <a:buNone/>
            </a:pPr>
            <a:r>
              <a:rPr lang="en-US" sz="1200" dirty="0">
                <a:solidFill>
                  <a:schemeClr val="tx2"/>
                </a:solidFill>
                <a:latin typeface="Courier New" pitchFamily="34" charset="0"/>
                <a:ea typeface="Courier New" pitchFamily="34" charset="-122"/>
                <a:cs typeface="Courier New" pitchFamily="34" charset="-120"/>
              </a:rPr>
              <a:t>UPDATE ... SET status = 'AUTHORISED'</a:t>
            </a:r>
            <a:endParaRPr lang="en-US" sz="1200" dirty="0"/>
          </a:p>
        </p:txBody>
      </p:sp>
      <p:sp>
        <p:nvSpPr>
          <p:cNvPr id="35" name="pill-110"/>
          <p:cNvSpPr/>
          <p:nvPr/>
        </p:nvSpPr>
        <p:spPr>
          <a:xfrm>
            <a:off x="4663440" y="3520440"/>
            <a:ext cx="2377440" cy="292608"/>
          </a:xfrm>
          <a:prstGeom prst="roundRect">
            <a:avLst>
              <a:gd name="adj" fmla="val 50000"/>
            </a:avLst>
          </a:prstGeom>
          <a:solidFill>
            <a:schemeClr val="accent2"/>
          </a:solidFill>
          <a:ln w="12700">
            <a:solidFill>
              <a:schemeClr val="accent2"/>
            </a:solidFill>
            <a:prstDash val="solid"/>
          </a:ln>
        </p:spPr>
      </p:sp>
      <p:sp>
        <p:nvSpPr>
          <p:cNvPr id="36" name="pill-text-111"/>
          <p:cNvSpPr txBox="1"/>
          <p:nvPr/>
        </p:nvSpPr>
        <p:spPr>
          <a:xfrm>
            <a:off x="4663440" y="3520440"/>
            <a:ext cx="2377440" cy="292608"/>
          </a:xfrm>
          <a:prstGeom prst="rect">
            <a:avLst/>
          </a:prstGeom>
          <a:noFill/>
          <a:ln/>
        </p:spPr>
        <p:txBody>
          <a:bodyPr wrap="square" lIns="0" tIns="0" rIns="0" bIns="0" rtlCol="0" anchor="ctr"/>
          <a:lstStyle/>
          <a:p>
            <a:pPr algn="ctr" indent="0" marL="0">
              <a:buNone/>
            </a:pPr>
            <a:r>
              <a:rPr lang="en-US" sz="1100" b="1" dirty="0">
                <a:solidFill>
                  <a:schemeClr val="bg1"/>
                </a:solidFill>
              </a:rPr>
              <a:t>REFUSED  ZE001</a:t>
            </a:r>
            <a:endParaRPr lang="en-US" sz="1100" dirty="0"/>
          </a:p>
        </p:txBody>
      </p:sp>
      <p:sp>
        <p:nvSpPr>
          <p:cNvPr id="37" name="text-112"/>
          <p:cNvSpPr txBox="1"/>
          <p:nvPr/>
        </p:nvSpPr>
        <p:spPr>
          <a:xfrm>
            <a:off x="4663440" y="3886200"/>
            <a:ext cx="4023360" cy="548640"/>
          </a:xfrm>
          <a:prstGeom prst="rect">
            <a:avLst/>
          </a:prstGeom>
          <a:noFill/>
          <a:ln/>
        </p:spPr>
        <p:txBody>
          <a:bodyPr wrap="square" lIns="0" tIns="0" rIns="0" bIns="0" rtlCol="0" anchor="t"/>
          <a:lstStyle/>
          <a:p>
            <a:pPr indent="0" marL="0">
              <a:buNone/>
            </a:pPr>
            <a:r>
              <a:rPr lang="en-US" sz="1300" dirty="0">
                <a:solidFill>
                  <a:schemeClr val="tx2"/>
                </a:solidFill>
              </a:rPr>
              <a:t>A trigger runs the same check on every UPDATE, so the UI, a script and psql obey one rule.</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Complete the evidence and the same gate says yes</a:t>
            </a:r>
            <a:endParaRPr lang="en-US" sz="2600" dirty="0"/>
          </a:p>
        </p:txBody>
      </p:sp>
      <p:sp>
        <p:nvSpPr>
          <p:cNvPr id="3" name="badge-113"/>
          <p:cNvSpPr/>
          <p:nvPr/>
        </p:nvSpPr>
        <p:spPr>
          <a:xfrm>
            <a:off x="457200" y="1143000"/>
            <a:ext cx="384048" cy="384048"/>
          </a:xfrm>
          <a:prstGeom prst="ellipse">
            <a:avLst/>
          </a:prstGeom>
          <a:solidFill>
            <a:schemeClr val="accent1"/>
          </a:solidFill>
          <a:ln w="12700">
            <a:solidFill>
              <a:schemeClr val="accent1"/>
            </a:solidFill>
            <a:prstDash val="solid"/>
          </a:ln>
        </p:spPr>
      </p:sp>
      <p:sp>
        <p:nvSpPr>
          <p:cNvPr id="4" name="badge-num-114"/>
          <p:cNvSpPr txBox="1"/>
          <p:nvPr/>
        </p:nvSpPr>
        <p:spPr>
          <a:xfrm>
            <a:off x="457200" y="114300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03</a:t>
            </a:r>
            <a:endParaRPr lang="en-US" sz="1300" dirty="0"/>
          </a:p>
        </p:txBody>
      </p:sp>
      <p:sp>
        <p:nvSpPr>
          <p:cNvPr id="5" name="text-115"/>
          <p:cNvSpPr txBox="1"/>
          <p:nvPr/>
        </p:nvSpPr>
        <p:spPr>
          <a:xfrm>
            <a:off x="960120" y="1143000"/>
            <a:ext cx="3291840" cy="640080"/>
          </a:xfrm>
          <a:prstGeom prst="rect">
            <a:avLst/>
          </a:prstGeom>
          <a:noFill/>
          <a:ln/>
        </p:spPr>
        <p:txBody>
          <a:bodyPr wrap="square" lIns="0" tIns="0" rIns="0" bIns="0" rtlCol="0" anchor="ctr"/>
          <a:lstStyle/>
          <a:p>
            <a:pPr indent="0" marL="0">
              <a:buNone/>
            </a:pPr>
            <a:r>
              <a:rPr lang="en-US" sz="1500" b="1" dirty="0">
                <a:solidFill>
                  <a:schemeClr val="tx1"/>
                </a:solidFill>
              </a:rPr>
              <a:t>Standby added, missing gear issued, three fresh gas readings logged</a:t>
            </a:r>
            <a:endParaRPr lang="en-US" sz="1500" dirty="0"/>
          </a:p>
        </p:txBody>
      </p:sp>
      <p:sp>
        <p:nvSpPr>
          <p:cNvPr id="6" name="pill-116"/>
          <p:cNvSpPr/>
          <p:nvPr/>
        </p:nvSpPr>
        <p:spPr>
          <a:xfrm>
            <a:off x="457200" y="1965960"/>
            <a:ext cx="2377440" cy="292608"/>
          </a:xfrm>
          <a:prstGeom prst="roundRect">
            <a:avLst>
              <a:gd name="adj" fmla="val 50000"/>
            </a:avLst>
          </a:prstGeom>
          <a:solidFill>
            <a:schemeClr val="accent3"/>
          </a:solidFill>
          <a:ln w="12700">
            <a:solidFill>
              <a:schemeClr val="accent3"/>
            </a:solidFill>
            <a:prstDash val="solid"/>
          </a:ln>
        </p:spPr>
      </p:sp>
      <p:sp>
        <p:nvSpPr>
          <p:cNvPr id="7" name="pill-text-117"/>
          <p:cNvSpPr txBox="1"/>
          <p:nvPr/>
        </p:nvSpPr>
        <p:spPr>
          <a:xfrm>
            <a:off x="457200" y="1965960"/>
            <a:ext cx="2377440" cy="292608"/>
          </a:xfrm>
          <a:prstGeom prst="rect">
            <a:avLst/>
          </a:prstGeom>
          <a:noFill/>
          <a:ln/>
        </p:spPr>
        <p:txBody>
          <a:bodyPr wrap="square" lIns="0" tIns="0" rIns="0" bIns="0" rtlCol="0" anchor="ctr"/>
          <a:lstStyle/>
          <a:p>
            <a:pPr algn="ctr" indent="0" marL="0">
              <a:buNone/>
            </a:pPr>
            <a:r>
              <a:rPr lang="en-US" sz="1100" b="1" dirty="0">
                <a:solidFill>
                  <a:schemeClr val="bg1"/>
                </a:solidFill>
              </a:rPr>
              <a:t>AUTHORISED  11 / 11</a:t>
            </a:r>
            <a:endParaRPr lang="en-US" sz="1100" dirty="0"/>
          </a:p>
        </p:txBody>
      </p:sp>
      <p:sp>
        <p:nvSpPr>
          <p:cNvPr id="8" name="text-118"/>
          <p:cNvSpPr txBox="1"/>
          <p:nvPr/>
        </p:nvSpPr>
        <p:spPr>
          <a:xfrm>
            <a:off x="457200" y="2423160"/>
            <a:ext cx="3749040" cy="822960"/>
          </a:xfrm>
          <a:prstGeom prst="rect">
            <a:avLst/>
          </a:prstGeom>
          <a:noFill/>
          <a:ln/>
        </p:spPr>
        <p:txBody>
          <a:bodyPr wrap="square" lIns="0" tIns="0" rIns="0" bIns="0" rtlCol="0" anchor="t"/>
          <a:lstStyle/>
          <a:p>
            <a:pPr indent="0" marL="0">
              <a:buNone/>
            </a:pPr>
            <a:r>
              <a:rPr lang="en-US" sz="1300" dirty="0">
                <a:solidFill>
                  <a:schemeClr val="tx2"/>
                </a:solidFill>
              </a:rPr>
              <a:t>An immutable snapshot of the evidence and policy used is saved with a SHA-256 digest computed by PostgreSQL:</a:t>
            </a:r>
            <a:endParaRPr lang="en-US" sz="1300" dirty="0"/>
          </a:p>
        </p:txBody>
      </p:sp>
      <p:sp>
        <p:nvSpPr>
          <p:cNvPr id="9" name="text-119"/>
          <p:cNvSpPr txBox="1"/>
          <p:nvPr/>
        </p:nvSpPr>
        <p:spPr>
          <a:xfrm>
            <a:off x="457200" y="3246120"/>
            <a:ext cx="3749040" cy="320040"/>
          </a:xfrm>
          <a:prstGeom prst="rect">
            <a:avLst/>
          </a:prstGeom>
          <a:noFill/>
          <a:ln/>
        </p:spPr>
        <p:txBody>
          <a:bodyPr wrap="square" lIns="0" tIns="0" rIns="0" bIns="0" rtlCol="0" anchor="t"/>
          <a:lstStyle/>
          <a:p>
            <a:pPr indent="0" marL="0">
              <a:buNone/>
            </a:pPr>
            <a:r>
              <a:rPr lang="en-US" sz="1400" b="1" dirty="0">
                <a:solidFill>
                  <a:schemeClr val="tx1"/>
                </a:solidFill>
                <a:latin typeface="Courier New" pitchFamily="34" charset="0"/>
                <a:ea typeface="Courier New" pitchFamily="34" charset="-122"/>
                <a:cs typeface="Courier New" pitchFamily="34" charset="-120"/>
              </a:rPr>
              <a:t>b4e0ef217e78bbc1...</a:t>
            </a:r>
            <a:endParaRPr lang="en-US" sz="1400" dirty="0"/>
          </a:p>
        </p:txBody>
      </p:sp>
      <p:sp>
        <p:nvSpPr>
          <p:cNvPr id="10" name="text-120"/>
          <p:cNvSpPr txBox="1"/>
          <p:nvPr/>
        </p:nvSpPr>
        <p:spPr>
          <a:xfrm>
            <a:off x="457200" y="3703320"/>
            <a:ext cx="3749040" cy="548640"/>
          </a:xfrm>
          <a:prstGeom prst="rect">
            <a:avLst/>
          </a:prstGeom>
          <a:noFill/>
          <a:ln/>
        </p:spPr>
        <p:txBody>
          <a:bodyPr wrap="square" lIns="0" tIns="0" rIns="0" bIns="0" rtlCol="0" anchor="t"/>
          <a:lstStyle/>
          <a:p>
            <a:pPr indent="0" marL="0">
              <a:buNone/>
            </a:pPr>
            <a:r>
              <a:rPr lang="en-US" sz="1300" dirty="0">
                <a:solidFill>
                  <a:schemeClr val="tx2"/>
                </a:solidFill>
              </a:rPr>
              <a:t>A later policy change cannot rewrite why this permit was allowed.</a:t>
            </a:r>
            <a:endParaRPr lang="en-US" sz="1300" dirty="0"/>
          </a:p>
        </p:txBody>
      </p:sp>
      <p:graphicFrame>
        <p:nvGraphicFramePr>
          <p:cNvPr id="6" name="state-table-121"/>
          <p:cNvGraphicFramePr>
            <a:graphicFrameLocks noGrp="1"/>
          </p:cNvGraphicFramePr>
          <p:nvPr>
            <p:extLst>
              <p:ext uri="{D42A27DB-BD31-4B8C-83A1-F6EECF244321}">
                <p14:modId xmlns:p14="http://schemas.microsoft.com/office/powerpoint/2010/main" val="1579011935"/>
              </p:ext>
            </p:extLst>
          </p:nvPr>
        </p:nvGraphicFramePr>
        <p:xfrm>
          <a:off x="4480560" y="1143000"/>
          <a:ext cx="4206240" cy="914400"/>
        </p:xfrm>
        <a:graphic>
          <a:graphicData uri="http://schemas.openxmlformats.org/drawingml/2006/table">
            <a:tbl>
              <a:tblPr/>
              <a:tblGrid>
                <a:gridCol w="1828800"/>
                <a:gridCol w="1097280"/>
                <a:gridCol w="1280160"/>
              </a:tblGrid>
              <a:tr h="329184">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State</a:t>
                      </a:r>
                      <a:endParaRPr lang="en-US" sz="13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Before</a:t>
                      </a:r>
                      <a:endParaRPr lang="en-US" sz="13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After</a:t>
                      </a:r>
                      <a:endParaRPr lang="en-US" sz="13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chemeClr val="tx2"/>
                    </a:solidFill>
                  </a:tcPr>
                </a:tc>
              </a:tr>
              <a:tr h="329184">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Permit status</a:t>
                      </a:r>
                      <a:endParaRPr lang="en-US" sz="13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DRAFT</a:t>
                      </a:r>
                      <a:endParaRPr lang="en-US" sz="13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tcPr>
                </a:tc>
                <a:tc>
                  <a:txBody>
                    <a:bodyPr/>
                    <a:lstStyle/>
                    <a:p>
                      <a:pPr algn="ctr" indent="0" marL="0">
                        <a:buNone/>
                      </a:pPr>
                      <a:r>
                        <a:rPr lang="en-US" sz="1300" b="1" dirty="0">
                          <a:solidFill>
                            <a:schemeClr val="accent3"/>
                          </a:solidFill>
                          <a:latin typeface="Calibri" pitchFamily="34" charset="0"/>
                          <a:ea typeface="Calibri" pitchFamily="34" charset="-122"/>
                          <a:cs typeface="Calibri" pitchFamily="34" charset="-120"/>
                        </a:rPr>
                        <a:t>AUTHORISED</a:t>
                      </a:r>
                      <a:endParaRPr lang="en-US" sz="13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tcPr>
                </a:tc>
              </a:tr>
              <a:tr h="329184">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Crew</a:t>
                      </a:r>
                      <a:endParaRPr lang="en-US" sz="13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tcPr>
                </a:tc>
                <a:tc>
                  <a:txBody>
                    <a:bodyPr/>
                    <a:lstStyle/>
                    <a:p>
                      <a:pPr algn="ctr" indent="0" marL="0">
                        <a:buNone/>
                      </a:pPr>
                      <a:r>
                        <a:rPr lang="en-US" sz="1300" b="1" dirty="0">
                          <a:solidFill>
                            <a:schemeClr val="accent3"/>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tcPr>
                </a:tc>
              </a:tr>
              <a:tr h="329184">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Gear issued</a:t>
                      </a:r>
                      <a:endParaRPr lang="en-US" sz="13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tcPr>
                </a:tc>
                <a:tc>
                  <a:txBody>
                    <a:bodyPr/>
                    <a:lstStyle/>
                    <a:p>
                      <a:pPr algn="ctr" indent="0" marL="0">
                        <a:buNone/>
                      </a:pPr>
                      <a:r>
                        <a:rPr lang="en-US" sz="1300" b="1" dirty="0">
                          <a:solidFill>
                            <a:schemeClr val="accent3"/>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tcPr>
                </a:tc>
              </a:tr>
              <a:tr h="329184">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Gas readings</a:t>
                      </a:r>
                      <a:endParaRPr lang="en-US" sz="13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tcPr>
                </a:tc>
                <a:tc>
                  <a:txBody>
                    <a:bodyPr/>
                    <a:lstStyle/>
                    <a:p>
                      <a:pPr algn="ctr" indent="0" marL="0">
                        <a:buNone/>
                      </a:pPr>
                      <a:r>
                        <a:rPr lang="en-US" sz="1300" b="1" dirty="0">
                          <a:solidFill>
                            <a:schemeClr val="accent3"/>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tcPr>
                </a:tc>
              </a:tr>
              <a:tr h="329184">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Decision snapshots</a:t>
                      </a:r>
                      <a:endParaRPr lang="en-US" sz="13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tcPr>
                </a:tc>
                <a:tc>
                  <a:txBody>
                    <a:bodyPr/>
                    <a:lstStyle/>
                    <a:p>
                      <a:pPr algn="ctr" indent="0" marL="0">
                        <a:buNone/>
                      </a:pPr>
                      <a:r>
                        <a:rPr lang="en-US" sz="1300" b="1" dirty="0">
                          <a:solidFill>
                            <a:schemeClr val="accent3"/>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Bad evidence is refused at the door</a:t>
            </a:r>
            <a:endParaRPr lang="en-US" sz="2600" dirty="0"/>
          </a:p>
        </p:txBody>
      </p:sp>
      <p:sp>
        <p:nvSpPr>
          <p:cNvPr id="3" name="card-122"/>
          <p:cNvSpPr/>
          <p:nvPr/>
        </p:nvSpPr>
        <p:spPr>
          <a:xfrm>
            <a:off x="457200" y="1097280"/>
            <a:ext cx="3977640" cy="3383280"/>
          </a:xfrm>
          <a:prstGeom prst="roundRect">
            <a:avLst>
              <a:gd name="adj" fmla="val 2162"/>
            </a:avLst>
          </a:prstGeom>
          <a:solidFill>
            <a:schemeClr val="bg2"/>
          </a:solidFill>
          <a:ln w="12700">
            <a:solidFill>
              <a:schemeClr val="bg2"/>
            </a:solidFill>
            <a:prstDash val="solid"/>
          </a:ln>
        </p:spPr>
      </p:sp>
      <p:sp>
        <p:nvSpPr>
          <p:cNvPr id="4" name="badge-123"/>
          <p:cNvSpPr/>
          <p:nvPr/>
        </p:nvSpPr>
        <p:spPr>
          <a:xfrm>
            <a:off x="640080" y="1280160"/>
            <a:ext cx="384048" cy="384048"/>
          </a:xfrm>
          <a:prstGeom prst="ellipse">
            <a:avLst/>
          </a:prstGeom>
          <a:solidFill>
            <a:schemeClr val="accent1"/>
          </a:solidFill>
          <a:ln w="12700">
            <a:solidFill>
              <a:schemeClr val="accent1"/>
            </a:solidFill>
            <a:prstDash val="solid"/>
          </a:ln>
        </p:spPr>
      </p:sp>
      <p:sp>
        <p:nvSpPr>
          <p:cNvPr id="5" name="badge-num-124"/>
          <p:cNvSpPr txBox="1"/>
          <p:nvPr/>
        </p:nvSpPr>
        <p:spPr>
          <a:xfrm>
            <a:off x="640080" y="128016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04</a:t>
            </a:r>
            <a:endParaRPr lang="en-US" sz="1300" dirty="0"/>
          </a:p>
        </p:txBody>
      </p:sp>
      <p:sp>
        <p:nvSpPr>
          <p:cNvPr id="6" name="text-125"/>
          <p:cNvSpPr txBox="1"/>
          <p:nvPr/>
        </p:nvSpPr>
        <p:spPr>
          <a:xfrm>
            <a:off x="1143000" y="1280160"/>
            <a:ext cx="3108960" cy="411480"/>
          </a:xfrm>
          <a:prstGeom prst="rect">
            <a:avLst/>
          </a:prstGeom>
          <a:noFill/>
          <a:ln/>
        </p:spPr>
        <p:txBody>
          <a:bodyPr wrap="square" lIns="0" tIns="0" rIns="0" bIns="0" rtlCol="0" anchor="ctr"/>
          <a:lstStyle/>
          <a:p>
            <a:pPr indent="0" marL="0">
              <a:buNone/>
            </a:pPr>
            <a:r>
              <a:rPr lang="en-US" sz="1500" b="1" dirty="0">
                <a:solidFill>
                  <a:schemeClr val="tx1"/>
                </a:solidFill>
              </a:rPr>
              <a:t>Out-of-calibration detector</a:t>
            </a:r>
            <a:endParaRPr lang="en-US" sz="1500" dirty="0"/>
          </a:p>
        </p:txBody>
      </p:sp>
      <p:sp>
        <p:nvSpPr>
          <p:cNvPr id="7" name="text-126"/>
          <p:cNvSpPr txBox="1"/>
          <p:nvPr/>
        </p:nvSpPr>
        <p:spPr>
          <a:xfrm>
            <a:off x="640080" y="1783080"/>
            <a:ext cx="3611880" cy="1828800"/>
          </a:xfrm>
          <a:prstGeom prst="rect">
            <a:avLst/>
          </a:prstGeom>
          <a:noFill/>
          <a:ln/>
        </p:spPr>
        <p:txBody>
          <a:bodyPr wrap="square" lIns="0" tIns="0" rIns="0" bIns="0" rtlCol="0" anchor="t"/>
          <a:lstStyle/>
          <a:p>
            <a:pPr indent="0" marL="0">
              <a:spcAft>
                <a:spcPts val="600"/>
              </a:spcAft>
              <a:buNone/>
            </a:pPr>
            <a:r>
              <a:rPr lang="en-US" sz="1300" dirty="0">
                <a:solidFill>
                  <a:schemeClr val="tx2"/>
                </a:solidFill>
              </a:rPr>
              <a:t>Detector GD-4G-0002's calibration expired on 2026-08-31. A supervisor tries to log a reading with it.</a:t>
            </a:r>
            <a:endParaRPr lang="en-US" sz="1300" dirty="0"/>
          </a:p>
          <a:p>
            <a:pPr indent="0" marL="0">
              <a:buNone/>
            </a:pPr>
            <a:r>
              <a:rPr lang="en-US" sz="1200" i="1" dirty="0">
                <a:solidFill>
                  <a:schemeClr val="accent2"/>
                </a:solidFill>
              </a:rPr>
              <a:t>Database: “Detector GD-4G-0002 calibration expired on 2026-08-31: a reading taken on 2026-10-08 is refused”</a:t>
            </a:r>
            <a:endParaRPr lang="en-US" sz="1300" dirty="0"/>
          </a:p>
        </p:txBody>
      </p:sp>
      <p:sp>
        <p:nvSpPr>
          <p:cNvPr id="8" name="pill-127"/>
          <p:cNvSpPr/>
          <p:nvPr/>
        </p:nvSpPr>
        <p:spPr>
          <a:xfrm>
            <a:off x="640080" y="3675888"/>
            <a:ext cx="2011680" cy="292608"/>
          </a:xfrm>
          <a:prstGeom prst="roundRect">
            <a:avLst>
              <a:gd name="adj" fmla="val 50000"/>
            </a:avLst>
          </a:prstGeom>
          <a:solidFill>
            <a:schemeClr val="accent2"/>
          </a:solidFill>
          <a:ln w="12700">
            <a:solidFill>
              <a:schemeClr val="accent2"/>
            </a:solidFill>
            <a:prstDash val="solid"/>
          </a:ln>
        </p:spPr>
      </p:sp>
      <p:sp>
        <p:nvSpPr>
          <p:cNvPr id="9" name="pill-text-128"/>
          <p:cNvSpPr txBox="1"/>
          <p:nvPr/>
        </p:nvSpPr>
        <p:spPr>
          <a:xfrm>
            <a:off x="640080" y="3675888"/>
            <a:ext cx="2011680" cy="292608"/>
          </a:xfrm>
          <a:prstGeom prst="rect">
            <a:avLst/>
          </a:prstGeom>
          <a:noFill/>
          <a:ln/>
        </p:spPr>
        <p:txBody>
          <a:bodyPr wrap="square" lIns="0" tIns="0" rIns="0" bIns="0" rtlCol="0" anchor="ctr"/>
          <a:lstStyle/>
          <a:p>
            <a:pPr algn="ctr" indent="0" marL="0">
              <a:buNone/>
            </a:pPr>
            <a:r>
              <a:rPr lang="en-US" sz="1100" b="1" dirty="0">
                <a:solidFill>
                  <a:schemeClr val="bg1"/>
                </a:solidFill>
              </a:rPr>
              <a:t>REFUSED  ZE002</a:t>
            </a:r>
            <a:endParaRPr lang="en-US" sz="1100" dirty="0"/>
          </a:p>
        </p:txBody>
      </p:sp>
      <p:sp>
        <p:nvSpPr>
          <p:cNvPr id="10" name="text-129"/>
          <p:cNvSpPr txBox="1"/>
          <p:nvPr/>
        </p:nvSpPr>
        <p:spPr>
          <a:xfrm>
            <a:off x="640080" y="4023360"/>
            <a:ext cx="3611880" cy="365760"/>
          </a:xfrm>
          <a:prstGeom prst="rect">
            <a:avLst/>
          </a:prstGeom>
          <a:noFill/>
          <a:ln/>
        </p:spPr>
        <p:txBody>
          <a:bodyPr wrap="square" lIns="0" tIns="0" rIns="0" bIns="0" rtlCol="0" anchor="t"/>
          <a:lstStyle/>
          <a:p>
            <a:pPr indent="0" marL="0">
              <a:buNone/>
            </a:pPr>
            <a:r>
              <a:rPr lang="en-US" sz="1100" i="1" dirty="0">
                <a:solidFill>
                  <a:schemeClr val="tx2"/>
                </a:solidFill>
              </a:rPr>
              <a:t>Gas readings on the permit: 0 -&gt; 0</a:t>
            </a:r>
            <a:endParaRPr lang="en-US" sz="1100" dirty="0"/>
          </a:p>
        </p:txBody>
      </p:sp>
      <p:sp>
        <p:nvSpPr>
          <p:cNvPr id="11" name="card-130"/>
          <p:cNvSpPr/>
          <p:nvPr/>
        </p:nvSpPr>
        <p:spPr>
          <a:xfrm>
            <a:off x="4709160" y="1097280"/>
            <a:ext cx="3977640" cy="3383280"/>
          </a:xfrm>
          <a:prstGeom prst="roundRect">
            <a:avLst>
              <a:gd name="adj" fmla="val 2162"/>
            </a:avLst>
          </a:prstGeom>
          <a:solidFill>
            <a:schemeClr val="bg2"/>
          </a:solidFill>
          <a:ln w="12700">
            <a:solidFill>
              <a:schemeClr val="bg2"/>
            </a:solidFill>
            <a:prstDash val="solid"/>
          </a:ln>
        </p:spPr>
      </p:sp>
      <p:sp>
        <p:nvSpPr>
          <p:cNvPr id="12" name="badge-131"/>
          <p:cNvSpPr/>
          <p:nvPr/>
        </p:nvSpPr>
        <p:spPr>
          <a:xfrm>
            <a:off x="4892040" y="1280160"/>
            <a:ext cx="384048" cy="384048"/>
          </a:xfrm>
          <a:prstGeom prst="ellipse">
            <a:avLst/>
          </a:prstGeom>
          <a:solidFill>
            <a:schemeClr val="accent1"/>
          </a:solidFill>
          <a:ln w="12700">
            <a:solidFill>
              <a:schemeClr val="accent1"/>
            </a:solidFill>
            <a:prstDash val="solid"/>
          </a:ln>
        </p:spPr>
      </p:sp>
      <p:sp>
        <p:nvSpPr>
          <p:cNvPr id="13" name="badge-num-132"/>
          <p:cNvSpPr txBox="1"/>
          <p:nvPr/>
        </p:nvSpPr>
        <p:spPr>
          <a:xfrm>
            <a:off x="4892040" y="128016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05</a:t>
            </a:r>
            <a:endParaRPr lang="en-US" sz="1300" dirty="0"/>
          </a:p>
        </p:txBody>
      </p:sp>
      <p:sp>
        <p:nvSpPr>
          <p:cNvPr id="14" name="text-133"/>
          <p:cNvSpPr txBox="1"/>
          <p:nvPr/>
        </p:nvSpPr>
        <p:spPr>
          <a:xfrm>
            <a:off x="5394960" y="1280160"/>
            <a:ext cx="3108960" cy="411480"/>
          </a:xfrm>
          <a:prstGeom prst="rect">
            <a:avLst/>
          </a:prstGeom>
          <a:noFill/>
          <a:ln/>
        </p:spPr>
        <p:txBody>
          <a:bodyPr wrap="square" lIns="0" tIns="0" rIns="0" bIns="0" rtlCol="0" anchor="ctr"/>
          <a:lstStyle/>
          <a:p>
            <a:pPr indent="0" marL="0">
              <a:buNone/>
            </a:pPr>
            <a:r>
              <a:rPr lang="en-US" sz="1500" b="1" dirty="0">
                <a:solidFill>
                  <a:schemeClr val="tx1"/>
                </a:solidFill>
              </a:rPr>
              <a:t>Crew changed after authorisation</a:t>
            </a:r>
            <a:endParaRPr lang="en-US" sz="1500" dirty="0"/>
          </a:p>
        </p:txBody>
      </p:sp>
      <p:sp>
        <p:nvSpPr>
          <p:cNvPr id="15" name="text-134"/>
          <p:cNvSpPr txBox="1"/>
          <p:nvPr/>
        </p:nvSpPr>
        <p:spPr>
          <a:xfrm>
            <a:off x="4892040" y="1783080"/>
            <a:ext cx="3611880" cy="1828800"/>
          </a:xfrm>
          <a:prstGeom prst="rect">
            <a:avLst/>
          </a:prstGeom>
          <a:noFill/>
          <a:ln/>
        </p:spPr>
        <p:txBody>
          <a:bodyPr wrap="square" lIns="0" tIns="0" rIns="0" bIns="0" rtlCol="0" anchor="t"/>
          <a:lstStyle/>
          <a:p>
            <a:pPr indent="0" marL="0">
              <a:spcAft>
                <a:spcPts val="600"/>
              </a:spcAft>
              <a:buNone/>
            </a:pPr>
            <a:r>
              <a:rPr lang="en-US" sz="1300" dirty="0">
                <a:solidFill>
                  <a:schemeClr val="tx2"/>
                </a:solidFill>
              </a:rPr>
              <a:t>The permit is AUTHORISED. Someone adds an un-geared entrant (NAM-TN-100006) afterwards.</a:t>
            </a:r>
            <a:endParaRPr lang="en-US" sz="1300" dirty="0"/>
          </a:p>
          <a:p>
            <a:pPr indent="0" marL="0">
              <a:buNone/>
            </a:pPr>
            <a:r>
              <a:rPr lang="en-US" sz="1200" i="1" dirty="0">
                <a:solidFill>
                  <a:schemeClr val="accent2"/>
                </a:solidFill>
              </a:rPr>
              <a:t>Database: “Crew and gear are frozen once a permit is AUTHORISED (cancel and re-issue instead)”</a:t>
            </a:r>
            <a:endParaRPr lang="en-US" sz="1300" dirty="0"/>
          </a:p>
        </p:txBody>
      </p:sp>
      <p:sp>
        <p:nvSpPr>
          <p:cNvPr id="16" name="pill-135"/>
          <p:cNvSpPr/>
          <p:nvPr/>
        </p:nvSpPr>
        <p:spPr>
          <a:xfrm>
            <a:off x="4892040" y="3675888"/>
            <a:ext cx="2011680" cy="292608"/>
          </a:xfrm>
          <a:prstGeom prst="roundRect">
            <a:avLst>
              <a:gd name="adj" fmla="val 50000"/>
            </a:avLst>
          </a:prstGeom>
          <a:solidFill>
            <a:schemeClr val="accent2"/>
          </a:solidFill>
          <a:ln w="12700">
            <a:solidFill>
              <a:schemeClr val="accent2"/>
            </a:solidFill>
            <a:prstDash val="solid"/>
          </a:ln>
        </p:spPr>
      </p:sp>
      <p:sp>
        <p:nvSpPr>
          <p:cNvPr id="17" name="pill-text-136"/>
          <p:cNvSpPr txBox="1"/>
          <p:nvPr/>
        </p:nvSpPr>
        <p:spPr>
          <a:xfrm>
            <a:off x="4892040" y="3675888"/>
            <a:ext cx="2011680" cy="292608"/>
          </a:xfrm>
          <a:prstGeom prst="rect">
            <a:avLst/>
          </a:prstGeom>
          <a:noFill/>
          <a:ln/>
        </p:spPr>
        <p:txBody>
          <a:bodyPr wrap="square" lIns="0" tIns="0" rIns="0" bIns="0" rtlCol="0" anchor="ctr"/>
          <a:lstStyle/>
          <a:p>
            <a:pPr algn="ctr" indent="0" marL="0">
              <a:buNone/>
            </a:pPr>
            <a:r>
              <a:rPr lang="en-US" sz="1100" b="1" dirty="0">
                <a:solidFill>
                  <a:schemeClr val="bg1"/>
                </a:solidFill>
              </a:rPr>
              <a:t>REFUSED  ZE003</a:t>
            </a:r>
            <a:endParaRPr lang="en-US" sz="1100" dirty="0"/>
          </a:p>
        </p:txBody>
      </p:sp>
      <p:sp>
        <p:nvSpPr>
          <p:cNvPr id="18" name="text-137"/>
          <p:cNvSpPr txBox="1"/>
          <p:nvPr/>
        </p:nvSpPr>
        <p:spPr>
          <a:xfrm>
            <a:off x="4892040" y="4023360"/>
            <a:ext cx="3611880" cy="365760"/>
          </a:xfrm>
          <a:prstGeom prst="rect">
            <a:avLst/>
          </a:prstGeom>
          <a:noFill/>
          <a:ln/>
        </p:spPr>
        <p:txBody>
          <a:bodyPr wrap="square" lIns="0" tIns="0" rIns="0" bIns="0" rtlCol="0" anchor="t"/>
          <a:lstStyle/>
          <a:p>
            <a:pPr indent="0" marL="0">
              <a:buNone/>
            </a:pPr>
            <a:r>
              <a:rPr lang="en-US" sz="1100" i="1" dirty="0">
                <a:solidFill>
                  <a:schemeClr val="tx2"/>
                </a:solidFill>
              </a:rPr>
              <a:t>Crew: 4 -&gt; 4</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Unsafe air stops the work; the exit still counts</a:t>
            </a:r>
            <a:endParaRPr lang="en-US" sz="2600" dirty="0"/>
          </a:p>
        </p:txBody>
      </p:sp>
      <p:sp>
        <p:nvSpPr>
          <p:cNvPr id="3" name="flow-138"/>
          <p:cNvSpPr/>
          <p:nvPr/>
        </p:nvSpPr>
        <p:spPr>
          <a:xfrm>
            <a:off x="457200" y="1097280"/>
            <a:ext cx="1463040" cy="548640"/>
          </a:xfrm>
          <a:prstGeom prst="roundRect">
            <a:avLst>
              <a:gd name="adj" fmla="val 16667"/>
            </a:avLst>
          </a:prstGeom>
          <a:solidFill>
            <a:schemeClr val="tx2"/>
          </a:solidFill>
          <a:ln w="12700">
            <a:solidFill>
              <a:schemeClr val="tx2"/>
            </a:solidFill>
            <a:prstDash val="solid"/>
          </a:ln>
        </p:spPr>
      </p:sp>
      <p:sp>
        <p:nvSpPr>
          <p:cNvPr id="4" name="text-139"/>
          <p:cNvSpPr txBox="1"/>
          <p:nvPr/>
        </p:nvSpPr>
        <p:spPr>
          <a:xfrm>
            <a:off x="457200" y="1097280"/>
            <a:ext cx="1463040" cy="548640"/>
          </a:xfrm>
          <a:prstGeom prst="rect">
            <a:avLst/>
          </a:prstGeom>
          <a:noFill/>
          <a:ln/>
        </p:spPr>
        <p:txBody>
          <a:bodyPr wrap="square" lIns="0" tIns="0" rIns="0" bIns="0" rtlCol="0" anchor="ctr"/>
          <a:lstStyle/>
          <a:p>
            <a:pPr algn="ctr" indent="0" marL="0">
              <a:buNone/>
            </a:pPr>
            <a:r>
              <a:rPr lang="en-US" sz="1300" b="1" dirty="0">
                <a:solidFill>
                  <a:schemeClr val="bg1"/>
                </a:solidFill>
              </a:rPr>
              <a:t>AUTHORISED</a:t>
            </a:r>
            <a:endParaRPr lang="en-US" sz="1300" dirty="0"/>
          </a:p>
        </p:txBody>
      </p:sp>
      <p:sp>
        <p:nvSpPr>
          <p:cNvPr id="5" name="arrow-140"/>
          <p:cNvSpPr/>
          <p:nvPr/>
        </p:nvSpPr>
        <p:spPr>
          <a:xfrm rot="5400000">
            <a:off x="1947672" y="1252728"/>
            <a:ext cx="164592" cy="237744"/>
          </a:xfrm>
          <a:prstGeom prst="rtTriangle">
            <a:avLst/>
          </a:prstGeom>
          <a:solidFill>
            <a:schemeClr val="accent1"/>
          </a:solidFill>
          <a:ln w="12700">
            <a:solidFill>
              <a:schemeClr val="accent1"/>
            </a:solidFill>
            <a:prstDash val="solid"/>
          </a:ln>
        </p:spPr>
      </p:sp>
      <p:sp>
        <p:nvSpPr>
          <p:cNvPr id="6" name="flow-141"/>
          <p:cNvSpPr/>
          <p:nvPr/>
        </p:nvSpPr>
        <p:spPr>
          <a:xfrm>
            <a:off x="2148840" y="1097280"/>
            <a:ext cx="1463040" cy="548640"/>
          </a:xfrm>
          <a:prstGeom prst="roundRect">
            <a:avLst>
              <a:gd name="adj" fmla="val 16667"/>
            </a:avLst>
          </a:prstGeom>
          <a:solidFill>
            <a:schemeClr val="tx2"/>
          </a:solidFill>
          <a:ln w="12700">
            <a:solidFill>
              <a:schemeClr val="tx2"/>
            </a:solidFill>
            <a:prstDash val="solid"/>
          </a:ln>
        </p:spPr>
      </p:sp>
      <p:sp>
        <p:nvSpPr>
          <p:cNvPr id="7" name="text-142"/>
          <p:cNvSpPr txBox="1"/>
          <p:nvPr/>
        </p:nvSpPr>
        <p:spPr>
          <a:xfrm>
            <a:off x="2148840" y="1097280"/>
            <a:ext cx="1463040" cy="548640"/>
          </a:xfrm>
          <a:prstGeom prst="rect">
            <a:avLst/>
          </a:prstGeom>
          <a:noFill/>
          <a:ln/>
        </p:spPr>
        <p:txBody>
          <a:bodyPr wrap="square" lIns="0" tIns="0" rIns="0" bIns="0" rtlCol="0" anchor="ctr"/>
          <a:lstStyle/>
          <a:p>
            <a:pPr algn="ctr" indent="0" marL="0">
              <a:buNone/>
            </a:pPr>
            <a:r>
              <a:rPr lang="en-US" sz="1300" b="1" dirty="0">
                <a:solidFill>
                  <a:schemeClr val="bg1"/>
                </a:solidFill>
              </a:rPr>
              <a:t>Worker inside</a:t>
            </a:r>
            <a:endParaRPr lang="en-US" sz="1300" dirty="0"/>
          </a:p>
        </p:txBody>
      </p:sp>
      <p:sp>
        <p:nvSpPr>
          <p:cNvPr id="8" name="arrow-143"/>
          <p:cNvSpPr/>
          <p:nvPr/>
        </p:nvSpPr>
        <p:spPr>
          <a:xfrm rot="5400000">
            <a:off x="3639312" y="1252728"/>
            <a:ext cx="164592" cy="237744"/>
          </a:xfrm>
          <a:prstGeom prst="rtTriangle">
            <a:avLst/>
          </a:prstGeom>
          <a:solidFill>
            <a:schemeClr val="accent1"/>
          </a:solidFill>
          <a:ln w="12700">
            <a:solidFill>
              <a:schemeClr val="accent1"/>
            </a:solidFill>
            <a:prstDash val="solid"/>
          </a:ln>
        </p:spPr>
      </p:sp>
      <p:sp>
        <p:nvSpPr>
          <p:cNvPr id="9" name="flow-144"/>
          <p:cNvSpPr/>
          <p:nvPr/>
        </p:nvSpPr>
        <p:spPr>
          <a:xfrm>
            <a:off x="3840480" y="1097280"/>
            <a:ext cx="1463040" cy="548640"/>
          </a:xfrm>
          <a:prstGeom prst="roundRect">
            <a:avLst>
              <a:gd name="adj" fmla="val 16667"/>
            </a:avLst>
          </a:prstGeom>
          <a:solidFill>
            <a:schemeClr val="accent2"/>
          </a:solidFill>
          <a:ln w="12700">
            <a:solidFill>
              <a:schemeClr val="accent2"/>
            </a:solidFill>
            <a:prstDash val="solid"/>
          </a:ln>
        </p:spPr>
      </p:sp>
      <p:sp>
        <p:nvSpPr>
          <p:cNvPr id="10" name="text-145"/>
          <p:cNvSpPr txBox="1"/>
          <p:nvPr/>
        </p:nvSpPr>
        <p:spPr>
          <a:xfrm>
            <a:off x="3840480" y="1097280"/>
            <a:ext cx="1463040" cy="548640"/>
          </a:xfrm>
          <a:prstGeom prst="rect">
            <a:avLst/>
          </a:prstGeom>
          <a:noFill/>
          <a:ln/>
        </p:spPr>
        <p:txBody>
          <a:bodyPr wrap="square" lIns="0" tIns="0" rIns="0" bIns="0" rtlCol="0" anchor="ctr"/>
          <a:lstStyle/>
          <a:p>
            <a:pPr algn="ctr" indent="0" marL="0">
              <a:buNone/>
            </a:pPr>
            <a:r>
              <a:rPr lang="en-US" sz="1300" b="1" dirty="0">
                <a:solidFill>
                  <a:schemeClr val="bg1"/>
                </a:solidFill>
              </a:rPr>
              <a:t>BOTTOM O2 12 %</a:t>
            </a:r>
            <a:endParaRPr lang="en-US" sz="1300" dirty="0"/>
          </a:p>
        </p:txBody>
      </p:sp>
      <p:sp>
        <p:nvSpPr>
          <p:cNvPr id="11" name="arrow-146"/>
          <p:cNvSpPr/>
          <p:nvPr/>
        </p:nvSpPr>
        <p:spPr>
          <a:xfrm rot="5400000">
            <a:off x="5330952" y="1252728"/>
            <a:ext cx="164592" cy="237744"/>
          </a:xfrm>
          <a:prstGeom prst="rtTriangle">
            <a:avLst/>
          </a:prstGeom>
          <a:solidFill>
            <a:schemeClr val="accent1"/>
          </a:solidFill>
          <a:ln w="12700">
            <a:solidFill>
              <a:schemeClr val="accent1"/>
            </a:solidFill>
            <a:prstDash val="solid"/>
          </a:ln>
        </p:spPr>
      </p:sp>
      <p:sp>
        <p:nvSpPr>
          <p:cNvPr id="12" name="flow-147"/>
          <p:cNvSpPr/>
          <p:nvPr/>
        </p:nvSpPr>
        <p:spPr>
          <a:xfrm>
            <a:off x="5532120" y="1097280"/>
            <a:ext cx="1463040" cy="548640"/>
          </a:xfrm>
          <a:prstGeom prst="roundRect">
            <a:avLst>
              <a:gd name="adj" fmla="val 16667"/>
            </a:avLst>
          </a:prstGeom>
          <a:solidFill>
            <a:schemeClr val="accent2"/>
          </a:solidFill>
          <a:ln w="12700">
            <a:solidFill>
              <a:schemeClr val="accent2"/>
            </a:solidFill>
            <a:prstDash val="solid"/>
          </a:ln>
        </p:spPr>
      </p:sp>
      <p:sp>
        <p:nvSpPr>
          <p:cNvPr id="13" name="text-148"/>
          <p:cNvSpPr txBox="1"/>
          <p:nvPr/>
        </p:nvSpPr>
        <p:spPr>
          <a:xfrm>
            <a:off x="5532120" y="1097280"/>
            <a:ext cx="1463040" cy="548640"/>
          </a:xfrm>
          <a:prstGeom prst="rect">
            <a:avLst/>
          </a:prstGeom>
          <a:noFill/>
          <a:ln/>
        </p:spPr>
        <p:txBody>
          <a:bodyPr wrap="square" lIns="0" tIns="0" rIns="0" bIns="0" rtlCol="0" anchor="ctr"/>
          <a:lstStyle/>
          <a:p>
            <a:pPr algn="ctr" indent="0" marL="0">
              <a:buNone/>
            </a:pPr>
            <a:r>
              <a:rPr lang="en-US" sz="1300" b="1" dirty="0">
                <a:solidFill>
                  <a:schemeClr val="bg1"/>
                </a:solidFill>
              </a:rPr>
              <a:t>Permit ABORTED</a:t>
            </a:r>
            <a:endParaRPr lang="en-US" sz="1300" dirty="0"/>
          </a:p>
        </p:txBody>
      </p:sp>
      <p:sp>
        <p:nvSpPr>
          <p:cNvPr id="14" name="arrow-149"/>
          <p:cNvSpPr/>
          <p:nvPr/>
        </p:nvSpPr>
        <p:spPr>
          <a:xfrm rot="5400000">
            <a:off x="7022592" y="1252728"/>
            <a:ext cx="164592" cy="237744"/>
          </a:xfrm>
          <a:prstGeom prst="rtTriangle">
            <a:avLst/>
          </a:prstGeom>
          <a:solidFill>
            <a:schemeClr val="accent1"/>
          </a:solidFill>
          <a:ln w="12700">
            <a:solidFill>
              <a:schemeClr val="accent1"/>
            </a:solidFill>
            <a:prstDash val="solid"/>
          </a:ln>
        </p:spPr>
      </p:sp>
      <p:sp>
        <p:nvSpPr>
          <p:cNvPr id="15" name="flow-150"/>
          <p:cNvSpPr/>
          <p:nvPr/>
        </p:nvSpPr>
        <p:spPr>
          <a:xfrm>
            <a:off x="7223760" y="1097280"/>
            <a:ext cx="1463040" cy="548640"/>
          </a:xfrm>
          <a:prstGeom prst="roundRect">
            <a:avLst>
              <a:gd name="adj" fmla="val 16667"/>
            </a:avLst>
          </a:prstGeom>
          <a:solidFill>
            <a:schemeClr val="accent3"/>
          </a:solidFill>
          <a:ln w="12700">
            <a:solidFill>
              <a:schemeClr val="accent3"/>
            </a:solidFill>
            <a:prstDash val="solid"/>
          </a:ln>
        </p:spPr>
      </p:sp>
      <p:sp>
        <p:nvSpPr>
          <p:cNvPr id="16" name="text-151"/>
          <p:cNvSpPr txBox="1"/>
          <p:nvPr/>
        </p:nvSpPr>
        <p:spPr>
          <a:xfrm>
            <a:off x="7223760" y="1097280"/>
            <a:ext cx="1463040" cy="548640"/>
          </a:xfrm>
          <a:prstGeom prst="rect">
            <a:avLst/>
          </a:prstGeom>
          <a:noFill/>
          <a:ln/>
        </p:spPr>
        <p:txBody>
          <a:bodyPr wrap="square" lIns="0" tIns="0" rIns="0" bIns="0" rtlCol="0" anchor="ctr"/>
          <a:lstStyle/>
          <a:p>
            <a:pPr algn="ctr" indent="0" marL="0">
              <a:buNone/>
            </a:pPr>
            <a:r>
              <a:rPr lang="en-US" sz="1300" b="1" dirty="0">
                <a:solidFill>
                  <a:schemeClr val="bg1"/>
                </a:solidFill>
              </a:rPr>
              <a:t>Exit recorded</a:t>
            </a:r>
            <a:endParaRPr lang="en-US" sz="1300" dirty="0"/>
          </a:p>
        </p:txBody>
      </p:sp>
      <p:sp>
        <p:nvSpPr>
          <p:cNvPr id="17" name="badge-152"/>
          <p:cNvSpPr/>
          <p:nvPr/>
        </p:nvSpPr>
        <p:spPr>
          <a:xfrm>
            <a:off x="457200" y="1828800"/>
            <a:ext cx="384048" cy="384048"/>
          </a:xfrm>
          <a:prstGeom prst="ellipse">
            <a:avLst/>
          </a:prstGeom>
          <a:solidFill>
            <a:schemeClr val="accent1"/>
          </a:solidFill>
          <a:ln w="12700">
            <a:solidFill>
              <a:schemeClr val="accent1"/>
            </a:solidFill>
            <a:prstDash val="solid"/>
          </a:ln>
        </p:spPr>
      </p:sp>
      <p:sp>
        <p:nvSpPr>
          <p:cNvPr id="18" name="badge-num-153"/>
          <p:cNvSpPr txBox="1"/>
          <p:nvPr/>
        </p:nvSpPr>
        <p:spPr>
          <a:xfrm>
            <a:off x="457200" y="182880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08</a:t>
            </a:r>
            <a:endParaRPr lang="en-US" sz="1300" dirty="0"/>
          </a:p>
        </p:txBody>
      </p:sp>
      <p:sp>
        <p:nvSpPr>
          <p:cNvPr id="19" name="text-154"/>
          <p:cNvSpPr txBox="1"/>
          <p:nvPr/>
        </p:nvSpPr>
        <p:spPr>
          <a:xfrm>
            <a:off x="960120" y="1828800"/>
            <a:ext cx="7726680" cy="640080"/>
          </a:xfrm>
          <a:prstGeom prst="rect">
            <a:avLst/>
          </a:prstGeom>
          <a:noFill/>
          <a:ln/>
        </p:spPr>
        <p:txBody>
          <a:bodyPr wrap="square" lIns="0" tIns="0" rIns="0" bIns="0" rtlCol="0" anchor="t"/>
          <a:lstStyle/>
          <a:p>
            <a:pPr indent="0" marL="0">
              <a:buNone/>
            </a:pPr>
            <a:r>
              <a:rPr lang="en-US" sz="1300" dirty="0">
                <a:solidFill>
                  <a:schemeClr val="tx2"/>
                </a:solidFill>
              </a:rPr>
              <a:t>Two safety events are appended (PERMIT_ABORTED, SAFETY_STOP) and cannot be edited. The worker's exit is still recorded after the stop: permission and physical reality are separate facts.</a:t>
            </a:r>
            <a:endParaRPr lang="en-US" sz="1300" dirty="0"/>
          </a:p>
        </p:txBody>
      </p:sp>
      <p:sp>
        <p:nvSpPr>
          <p:cNvPr id="20" name="card-155"/>
          <p:cNvSpPr/>
          <p:nvPr/>
        </p:nvSpPr>
        <p:spPr>
          <a:xfrm>
            <a:off x="457200" y="2606040"/>
            <a:ext cx="3977640" cy="2011680"/>
          </a:xfrm>
          <a:prstGeom prst="roundRect">
            <a:avLst>
              <a:gd name="adj" fmla="val 3636"/>
            </a:avLst>
          </a:prstGeom>
          <a:solidFill>
            <a:schemeClr val="bg2"/>
          </a:solidFill>
          <a:ln w="12700">
            <a:solidFill>
              <a:schemeClr val="bg2"/>
            </a:solidFill>
            <a:prstDash val="solid"/>
          </a:ln>
        </p:spPr>
      </p:sp>
      <p:sp>
        <p:nvSpPr>
          <p:cNvPr id="21" name="badge-156"/>
          <p:cNvSpPr/>
          <p:nvPr/>
        </p:nvSpPr>
        <p:spPr>
          <a:xfrm>
            <a:off x="640080" y="2788920"/>
            <a:ext cx="384048" cy="384048"/>
          </a:xfrm>
          <a:prstGeom prst="ellipse">
            <a:avLst/>
          </a:prstGeom>
          <a:solidFill>
            <a:schemeClr val="accent1"/>
          </a:solidFill>
          <a:ln w="12700">
            <a:solidFill>
              <a:schemeClr val="accent1"/>
            </a:solidFill>
            <a:prstDash val="solid"/>
          </a:ln>
        </p:spPr>
      </p:sp>
      <p:sp>
        <p:nvSpPr>
          <p:cNvPr id="22" name="badge-num-157"/>
          <p:cNvSpPr txBox="1"/>
          <p:nvPr/>
        </p:nvSpPr>
        <p:spPr>
          <a:xfrm>
            <a:off x="640080" y="278892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06</a:t>
            </a:r>
            <a:endParaRPr lang="en-US" sz="1300" dirty="0"/>
          </a:p>
        </p:txBody>
      </p:sp>
      <p:sp>
        <p:nvSpPr>
          <p:cNvPr id="23" name="text-158"/>
          <p:cNvSpPr txBox="1"/>
          <p:nvPr/>
        </p:nvSpPr>
        <p:spPr>
          <a:xfrm>
            <a:off x="1143000" y="2788920"/>
            <a:ext cx="3108960" cy="411480"/>
          </a:xfrm>
          <a:prstGeom prst="rect">
            <a:avLst/>
          </a:prstGeom>
          <a:noFill/>
          <a:ln/>
        </p:spPr>
        <p:txBody>
          <a:bodyPr wrap="square" lIns="0" tIns="0" rIns="0" bIns="0" rtlCol="0" anchor="ctr"/>
          <a:lstStyle/>
          <a:p>
            <a:pPr indent="0" marL="0">
              <a:buNone/>
            </a:pPr>
            <a:r>
              <a:rPr lang="en-US" sz="1500" b="1" dirty="0">
                <a:solidFill>
                  <a:schemeClr val="tx1"/>
                </a:solidFill>
              </a:rPr>
              <a:t>Same worker, two overlapping entries</a:t>
            </a:r>
            <a:endParaRPr lang="en-US" sz="1500" dirty="0"/>
          </a:p>
        </p:txBody>
      </p:sp>
      <p:sp>
        <p:nvSpPr>
          <p:cNvPr id="24" name="text-159"/>
          <p:cNvSpPr txBox="1"/>
          <p:nvPr/>
        </p:nvSpPr>
        <p:spPr>
          <a:xfrm>
            <a:off x="640080" y="3291840"/>
            <a:ext cx="3611880" cy="457200"/>
          </a:xfrm>
          <a:prstGeom prst="rect">
            <a:avLst/>
          </a:prstGeom>
          <a:noFill/>
          <a:ln/>
        </p:spPr>
        <p:txBody>
          <a:bodyPr wrap="square" lIns="0" tIns="0" rIns="0" bIns="0" rtlCol="0" anchor="t"/>
          <a:lstStyle/>
          <a:p>
            <a:pPr indent="0" marL="0">
              <a:buNone/>
            </a:pPr>
            <a:r>
              <a:rPr lang="en-US" sz="1200" i="1" dirty="0">
                <a:solidFill>
                  <a:schemeClr val="accent2"/>
                </a:solidFill>
              </a:rPr>
              <a:t>Database: “conflicting key value violates exclusion constraint ex_entry_no_overlap”</a:t>
            </a:r>
            <a:endParaRPr lang="en-US" sz="1300" dirty="0"/>
          </a:p>
        </p:txBody>
      </p:sp>
      <p:sp>
        <p:nvSpPr>
          <p:cNvPr id="25" name="pill-160"/>
          <p:cNvSpPr/>
          <p:nvPr/>
        </p:nvSpPr>
        <p:spPr>
          <a:xfrm>
            <a:off x="640080" y="3813048"/>
            <a:ext cx="2011680" cy="292608"/>
          </a:xfrm>
          <a:prstGeom prst="roundRect">
            <a:avLst>
              <a:gd name="adj" fmla="val 50000"/>
            </a:avLst>
          </a:prstGeom>
          <a:solidFill>
            <a:schemeClr val="accent2"/>
          </a:solidFill>
          <a:ln w="12700">
            <a:solidFill>
              <a:schemeClr val="accent2"/>
            </a:solidFill>
            <a:prstDash val="solid"/>
          </a:ln>
        </p:spPr>
      </p:sp>
      <p:sp>
        <p:nvSpPr>
          <p:cNvPr id="26" name="pill-text-161"/>
          <p:cNvSpPr txBox="1"/>
          <p:nvPr/>
        </p:nvSpPr>
        <p:spPr>
          <a:xfrm>
            <a:off x="640080" y="3813048"/>
            <a:ext cx="2011680" cy="292608"/>
          </a:xfrm>
          <a:prstGeom prst="rect">
            <a:avLst/>
          </a:prstGeom>
          <a:noFill/>
          <a:ln/>
        </p:spPr>
        <p:txBody>
          <a:bodyPr wrap="square" lIns="0" tIns="0" rIns="0" bIns="0" rtlCol="0" anchor="ctr"/>
          <a:lstStyle/>
          <a:p>
            <a:pPr algn="ctr" indent="0" marL="0">
              <a:buNone/>
            </a:pPr>
            <a:r>
              <a:rPr lang="en-US" sz="1100" b="1" dirty="0">
                <a:solidFill>
                  <a:schemeClr val="bg1"/>
                </a:solidFill>
              </a:rPr>
              <a:t>REFUSED  23P01</a:t>
            </a:r>
            <a:endParaRPr lang="en-US" sz="1100" dirty="0"/>
          </a:p>
        </p:txBody>
      </p:sp>
      <p:sp>
        <p:nvSpPr>
          <p:cNvPr id="27" name="text-162"/>
          <p:cNvSpPr txBox="1"/>
          <p:nvPr/>
        </p:nvSpPr>
        <p:spPr>
          <a:xfrm>
            <a:off x="640080" y="4160520"/>
            <a:ext cx="3611880" cy="365760"/>
          </a:xfrm>
          <a:prstGeom prst="rect">
            <a:avLst/>
          </a:prstGeom>
          <a:noFill/>
          <a:ln/>
        </p:spPr>
        <p:txBody>
          <a:bodyPr wrap="square" lIns="0" tIns="0" rIns="0" bIns="0" rtlCol="0" anchor="t"/>
          <a:lstStyle/>
          <a:p>
            <a:pPr indent="0" marL="0">
              <a:buNone/>
            </a:pPr>
            <a:r>
              <a:rPr lang="en-US" sz="1100" i="1" dirty="0">
                <a:solidFill>
                  <a:schemeClr val="tx2"/>
                </a:solidFill>
              </a:rPr>
              <a:t>exclusion constraint, not application code</a:t>
            </a:r>
            <a:endParaRPr lang="en-US" sz="1100" dirty="0"/>
          </a:p>
        </p:txBody>
      </p:sp>
      <p:sp>
        <p:nvSpPr>
          <p:cNvPr id="28" name="card-163"/>
          <p:cNvSpPr/>
          <p:nvPr/>
        </p:nvSpPr>
        <p:spPr>
          <a:xfrm>
            <a:off x="4709160" y="2606040"/>
            <a:ext cx="3977640" cy="2011680"/>
          </a:xfrm>
          <a:prstGeom prst="roundRect">
            <a:avLst>
              <a:gd name="adj" fmla="val 3636"/>
            </a:avLst>
          </a:prstGeom>
          <a:solidFill>
            <a:schemeClr val="bg2"/>
          </a:solidFill>
          <a:ln w="12700">
            <a:solidFill>
              <a:schemeClr val="bg2"/>
            </a:solidFill>
            <a:prstDash val="solid"/>
          </a:ln>
        </p:spPr>
      </p:sp>
      <p:sp>
        <p:nvSpPr>
          <p:cNvPr id="29" name="badge-164"/>
          <p:cNvSpPr/>
          <p:nvPr/>
        </p:nvSpPr>
        <p:spPr>
          <a:xfrm>
            <a:off x="4892040" y="2788920"/>
            <a:ext cx="384048" cy="384048"/>
          </a:xfrm>
          <a:prstGeom prst="ellipse">
            <a:avLst/>
          </a:prstGeom>
          <a:solidFill>
            <a:schemeClr val="accent1"/>
          </a:solidFill>
          <a:ln w="12700">
            <a:solidFill>
              <a:schemeClr val="accent1"/>
            </a:solidFill>
            <a:prstDash val="solid"/>
          </a:ln>
        </p:spPr>
      </p:sp>
      <p:sp>
        <p:nvSpPr>
          <p:cNvPr id="30" name="badge-num-165"/>
          <p:cNvSpPr txBox="1"/>
          <p:nvPr/>
        </p:nvSpPr>
        <p:spPr>
          <a:xfrm>
            <a:off x="4892040" y="278892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07</a:t>
            </a:r>
            <a:endParaRPr lang="en-US" sz="1300" dirty="0"/>
          </a:p>
        </p:txBody>
      </p:sp>
      <p:sp>
        <p:nvSpPr>
          <p:cNvPr id="31" name="text-166"/>
          <p:cNvSpPr txBox="1"/>
          <p:nvPr/>
        </p:nvSpPr>
        <p:spPr>
          <a:xfrm>
            <a:off x="5394960" y="2788920"/>
            <a:ext cx="3108960" cy="411480"/>
          </a:xfrm>
          <a:prstGeom prst="rect">
            <a:avLst/>
          </a:prstGeom>
          <a:noFill/>
          <a:ln/>
        </p:spPr>
        <p:txBody>
          <a:bodyPr wrap="square" lIns="0" tIns="0" rIns="0" bIns="0" rtlCol="0" anchor="ctr"/>
          <a:lstStyle/>
          <a:p>
            <a:pPr indent="0" marL="0">
              <a:buNone/>
            </a:pPr>
            <a:r>
              <a:rPr lang="en-US" sz="1500" b="1" dirty="0">
                <a:solidFill>
                  <a:schemeClr val="tx1"/>
                </a:solidFill>
              </a:rPr>
              <a:t>The standby tries to go down</a:t>
            </a:r>
            <a:endParaRPr lang="en-US" sz="1500" dirty="0"/>
          </a:p>
        </p:txBody>
      </p:sp>
      <p:sp>
        <p:nvSpPr>
          <p:cNvPr id="32" name="text-167"/>
          <p:cNvSpPr txBox="1"/>
          <p:nvPr/>
        </p:nvSpPr>
        <p:spPr>
          <a:xfrm>
            <a:off x="4892040" y="3291840"/>
            <a:ext cx="3611880" cy="457200"/>
          </a:xfrm>
          <a:prstGeom prst="rect">
            <a:avLst/>
          </a:prstGeom>
          <a:noFill/>
          <a:ln/>
        </p:spPr>
        <p:txBody>
          <a:bodyPr wrap="square" lIns="0" tIns="0" rIns="0" bIns="0" rtlCol="0" anchor="t"/>
          <a:lstStyle/>
          <a:p>
            <a:pPr indent="0" marL="0">
              <a:buNone/>
            </a:pPr>
            <a:r>
              <a:rPr lang="en-US" sz="1200" i="1" dirty="0">
                <a:solidFill>
                  <a:schemeClr val="accent2"/>
                </a:solidFill>
              </a:rPr>
              <a:t>Database: “Only a crew member with the ENTRANT role may enter (this worker is STANDBY)”</a:t>
            </a:r>
            <a:endParaRPr lang="en-US" sz="1300" dirty="0"/>
          </a:p>
        </p:txBody>
      </p:sp>
      <p:sp>
        <p:nvSpPr>
          <p:cNvPr id="33" name="pill-168"/>
          <p:cNvSpPr/>
          <p:nvPr/>
        </p:nvSpPr>
        <p:spPr>
          <a:xfrm>
            <a:off x="4892040" y="3813048"/>
            <a:ext cx="2011680" cy="292608"/>
          </a:xfrm>
          <a:prstGeom prst="roundRect">
            <a:avLst>
              <a:gd name="adj" fmla="val 50000"/>
            </a:avLst>
          </a:prstGeom>
          <a:solidFill>
            <a:schemeClr val="accent2"/>
          </a:solidFill>
          <a:ln w="12700">
            <a:solidFill>
              <a:schemeClr val="accent2"/>
            </a:solidFill>
            <a:prstDash val="solid"/>
          </a:ln>
        </p:spPr>
      </p:sp>
      <p:sp>
        <p:nvSpPr>
          <p:cNvPr id="34" name="pill-text-169"/>
          <p:cNvSpPr txBox="1"/>
          <p:nvPr/>
        </p:nvSpPr>
        <p:spPr>
          <a:xfrm>
            <a:off x="4892040" y="3813048"/>
            <a:ext cx="2011680" cy="292608"/>
          </a:xfrm>
          <a:prstGeom prst="rect">
            <a:avLst/>
          </a:prstGeom>
          <a:noFill/>
          <a:ln/>
        </p:spPr>
        <p:txBody>
          <a:bodyPr wrap="square" lIns="0" tIns="0" rIns="0" bIns="0" rtlCol="0" anchor="ctr"/>
          <a:lstStyle/>
          <a:p>
            <a:pPr algn="ctr" indent="0" marL="0">
              <a:buNone/>
            </a:pPr>
            <a:r>
              <a:rPr lang="en-US" sz="1100" b="1" dirty="0">
                <a:solidFill>
                  <a:schemeClr val="bg1"/>
                </a:solidFill>
              </a:rPr>
              <a:t>REFUSED  ZE002</a:t>
            </a:r>
            <a:endParaRPr lang="en-US" sz="1100" dirty="0"/>
          </a:p>
        </p:txBody>
      </p:sp>
      <p:sp>
        <p:nvSpPr>
          <p:cNvPr id="35" name="text-170"/>
          <p:cNvSpPr txBox="1"/>
          <p:nvPr/>
        </p:nvSpPr>
        <p:spPr>
          <a:xfrm>
            <a:off x="4892040" y="4160520"/>
            <a:ext cx="3611880" cy="365760"/>
          </a:xfrm>
          <a:prstGeom prst="rect">
            <a:avLst/>
          </a:prstGeom>
          <a:noFill/>
          <a:ln/>
        </p:spPr>
        <p:txBody>
          <a:bodyPr wrap="square" lIns="0" tIns="0" rIns="0" bIns="0" rtlCol="0" anchor="t"/>
          <a:lstStyle/>
          <a:p>
            <a:pPr indent="0" marL="0">
              <a:buNone/>
            </a:pPr>
            <a:r>
              <a:rPr lang="en-US" sz="1100" i="1" dirty="0">
                <a:solidFill>
                  <a:schemeClr val="tx2"/>
                </a:solidFill>
              </a:rPr>
              <a:t>the top man must stay outside to rescue</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Missing evidence: an alert only a person can close</a:t>
            </a:r>
            <a:endParaRPr lang="en-US" sz="2600" dirty="0"/>
          </a:p>
        </p:txBody>
      </p:sp>
      <p:sp>
        <p:nvSpPr>
          <p:cNvPr id="3" name="state-171"/>
          <p:cNvSpPr/>
          <p:nvPr/>
        </p:nvSpPr>
        <p:spPr>
          <a:xfrm>
            <a:off x="457200" y="1188720"/>
            <a:ext cx="2651760" cy="594360"/>
          </a:xfrm>
          <a:prstGeom prst="roundRect">
            <a:avLst>
              <a:gd name="adj" fmla="val 15385"/>
            </a:avLst>
          </a:prstGeom>
          <a:solidFill>
            <a:schemeClr val="accent4"/>
          </a:solidFill>
          <a:ln w="12700">
            <a:solidFill>
              <a:schemeClr val="accent4"/>
            </a:solidFill>
            <a:prstDash val="solid"/>
          </a:ln>
        </p:spPr>
      </p:sp>
      <p:sp>
        <p:nvSpPr>
          <p:cNvPr id="4" name="text-172"/>
          <p:cNvSpPr txBox="1"/>
          <p:nvPr/>
        </p:nvSpPr>
        <p:spPr>
          <a:xfrm>
            <a:off x="457200" y="1188720"/>
            <a:ext cx="2651760" cy="594360"/>
          </a:xfrm>
          <a:prstGeom prst="rect">
            <a:avLst/>
          </a:prstGeom>
          <a:noFill/>
          <a:ln/>
        </p:spPr>
        <p:txBody>
          <a:bodyPr wrap="square" lIns="0" tIns="0" rIns="0" bIns="0" rtlCol="0" anchor="ctr"/>
          <a:lstStyle/>
          <a:p>
            <a:pPr algn="ctr" indent="0" marL="0">
              <a:buNone/>
            </a:pPr>
            <a:r>
              <a:rPr lang="en-US" sz="1400" b="1" dirty="0">
                <a:solidFill>
                  <a:schemeClr val="bg1"/>
                </a:solidFill>
              </a:rPr>
              <a:t>OPEN</a:t>
            </a:r>
            <a:endParaRPr lang="en-US" sz="1400" dirty="0"/>
          </a:p>
        </p:txBody>
      </p:sp>
      <p:sp>
        <p:nvSpPr>
          <p:cNvPr id="5" name="state-173"/>
          <p:cNvSpPr/>
          <p:nvPr/>
        </p:nvSpPr>
        <p:spPr>
          <a:xfrm>
            <a:off x="3246120" y="1188720"/>
            <a:ext cx="2651760" cy="594360"/>
          </a:xfrm>
          <a:prstGeom prst="roundRect">
            <a:avLst>
              <a:gd name="adj" fmla="val 15385"/>
            </a:avLst>
          </a:prstGeom>
          <a:solidFill>
            <a:schemeClr val="accent1"/>
          </a:solidFill>
          <a:ln w="12700">
            <a:solidFill>
              <a:schemeClr val="accent1"/>
            </a:solidFill>
            <a:prstDash val="solid"/>
          </a:ln>
        </p:spPr>
      </p:sp>
      <p:sp>
        <p:nvSpPr>
          <p:cNvPr id="6" name="text-174"/>
          <p:cNvSpPr txBox="1"/>
          <p:nvPr/>
        </p:nvSpPr>
        <p:spPr>
          <a:xfrm>
            <a:off x="3246120" y="1188720"/>
            <a:ext cx="2651760" cy="594360"/>
          </a:xfrm>
          <a:prstGeom prst="rect">
            <a:avLst/>
          </a:prstGeom>
          <a:noFill/>
          <a:ln/>
        </p:spPr>
        <p:txBody>
          <a:bodyPr wrap="square" lIns="0" tIns="0" rIns="0" bIns="0" rtlCol="0" anchor="ctr"/>
          <a:lstStyle/>
          <a:p>
            <a:pPr algn="ctr" indent="0" marL="0">
              <a:buNone/>
            </a:pPr>
            <a:r>
              <a:rPr lang="en-US" sz="1400" b="1" dirty="0">
                <a:solidFill>
                  <a:schemeClr val="tx1"/>
                </a:solidFill>
              </a:rPr>
              <a:t>EVIDENCE_RECEIVED</a:t>
            </a:r>
            <a:endParaRPr lang="en-US" sz="1400" dirty="0"/>
          </a:p>
        </p:txBody>
      </p:sp>
      <p:sp>
        <p:nvSpPr>
          <p:cNvPr id="7" name="state-175"/>
          <p:cNvSpPr/>
          <p:nvPr/>
        </p:nvSpPr>
        <p:spPr>
          <a:xfrm>
            <a:off x="6035040" y="1188720"/>
            <a:ext cx="2651760" cy="594360"/>
          </a:xfrm>
          <a:prstGeom prst="roundRect">
            <a:avLst>
              <a:gd name="adj" fmla="val 15385"/>
            </a:avLst>
          </a:prstGeom>
          <a:solidFill>
            <a:schemeClr val="tx1"/>
          </a:solidFill>
          <a:ln w="12700">
            <a:solidFill>
              <a:schemeClr val="tx1"/>
            </a:solidFill>
            <a:prstDash val="solid"/>
          </a:ln>
        </p:spPr>
      </p:sp>
      <p:sp>
        <p:nvSpPr>
          <p:cNvPr id="8" name="text-176"/>
          <p:cNvSpPr txBox="1"/>
          <p:nvPr/>
        </p:nvSpPr>
        <p:spPr>
          <a:xfrm>
            <a:off x="6035040" y="1188720"/>
            <a:ext cx="2651760" cy="594360"/>
          </a:xfrm>
          <a:prstGeom prst="rect">
            <a:avLst/>
          </a:prstGeom>
          <a:noFill/>
          <a:ln/>
        </p:spPr>
        <p:txBody>
          <a:bodyPr wrap="square" lIns="0" tIns="0" rIns="0" bIns="0" rtlCol="0" anchor="ctr"/>
          <a:lstStyle/>
          <a:p>
            <a:pPr algn="ctr" indent="0" marL="0">
              <a:buNone/>
            </a:pPr>
            <a:r>
              <a:rPr lang="en-US" sz="1400" b="1" dirty="0">
                <a:solidFill>
                  <a:schemeClr val="bg1"/>
                </a:solidFill>
              </a:rPr>
              <a:t>DISMISSED / CONFIRMED</a:t>
            </a:r>
            <a:endParaRPr lang="en-US" sz="1400" dirty="0"/>
          </a:p>
        </p:txBody>
      </p:sp>
      <p:sp>
        <p:nvSpPr>
          <p:cNvPr id="9" name="text-177"/>
          <p:cNvSpPr txBox="1"/>
          <p:nvPr/>
        </p:nvSpPr>
        <p:spPr>
          <a:xfrm>
            <a:off x="457200" y="1874520"/>
            <a:ext cx="5394960" cy="274320"/>
          </a:xfrm>
          <a:prstGeom prst="rect">
            <a:avLst/>
          </a:prstGeom>
          <a:noFill/>
          <a:ln/>
        </p:spPr>
        <p:txBody>
          <a:bodyPr wrap="square" lIns="0" tIns="0" rIns="0" bIns="0" rtlCol="0" anchor="t"/>
          <a:lstStyle/>
          <a:p>
            <a:pPr algn="ctr" indent="0" marL="0">
              <a:buNone/>
            </a:pPr>
            <a:r>
              <a:rPr lang="en-US" sz="1100" dirty="0">
                <a:solidFill>
                  <a:schemeClr val="accent4"/>
                </a:solidFill>
              </a:rPr>
              <a:t>late evidence + scan</a:t>
            </a:r>
            <a:endParaRPr lang="en-US" sz="1100" dirty="0"/>
          </a:p>
        </p:txBody>
      </p:sp>
      <p:sp>
        <p:nvSpPr>
          <p:cNvPr id="10" name="text-178"/>
          <p:cNvSpPr txBox="1"/>
          <p:nvPr/>
        </p:nvSpPr>
        <p:spPr>
          <a:xfrm>
            <a:off x="3246120" y="1874520"/>
            <a:ext cx="5394960" cy="274320"/>
          </a:xfrm>
          <a:prstGeom prst="rect">
            <a:avLst/>
          </a:prstGeom>
          <a:noFill/>
          <a:ln/>
        </p:spPr>
        <p:txBody>
          <a:bodyPr wrap="square" lIns="0" tIns="0" rIns="0" bIns="0" rtlCol="0" anchor="t"/>
          <a:lstStyle/>
          <a:p>
            <a:pPr algn="ctr" indent="0" marL="0">
              <a:buNone/>
            </a:pPr>
            <a:r>
              <a:rPr lang="en-US" sz="1100" dirty="0">
                <a:solidFill>
                  <a:schemeClr val="accent4"/>
                </a:solidFill>
              </a:rPr>
              <a:t>engineer decides, with a note</a:t>
            </a:r>
            <a:endParaRPr lang="en-US" sz="1100" dirty="0"/>
          </a:p>
        </p:txBody>
      </p:sp>
      <p:sp>
        <p:nvSpPr>
          <p:cNvPr id="11" name="badge-179"/>
          <p:cNvSpPr/>
          <p:nvPr/>
        </p:nvSpPr>
        <p:spPr>
          <a:xfrm>
            <a:off x="457200" y="2331720"/>
            <a:ext cx="384048" cy="384048"/>
          </a:xfrm>
          <a:prstGeom prst="ellipse">
            <a:avLst/>
          </a:prstGeom>
          <a:solidFill>
            <a:schemeClr val="accent1"/>
          </a:solidFill>
          <a:ln w="12700">
            <a:solidFill>
              <a:schemeClr val="accent1"/>
            </a:solidFill>
            <a:prstDash val="solid"/>
          </a:ln>
        </p:spPr>
      </p:sp>
      <p:sp>
        <p:nvSpPr>
          <p:cNvPr id="12" name="badge-num-180"/>
          <p:cNvSpPr txBox="1"/>
          <p:nvPr/>
        </p:nvSpPr>
        <p:spPr>
          <a:xfrm>
            <a:off x="457200" y="233172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09</a:t>
            </a:r>
            <a:endParaRPr lang="en-US" sz="1300" dirty="0"/>
          </a:p>
        </p:txBody>
      </p:sp>
      <p:sp>
        <p:nvSpPr>
          <p:cNvPr id="13" name="text-181"/>
          <p:cNvSpPr txBox="1"/>
          <p:nvPr/>
        </p:nvSpPr>
        <p:spPr>
          <a:xfrm>
            <a:off x="960120" y="2331720"/>
            <a:ext cx="2743200" cy="384048"/>
          </a:xfrm>
          <a:prstGeom prst="rect">
            <a:avLst/>
          </a:prstGeom>
          <a:noFill/>
          <a:ln/>
        </p:spPr>
        <p:txBody>
          <a:bodyPr wrap="square" lIns="0" tIns="0" rIns="0" bIns="0" rtlCol="0" anchor="ctr"/>
          <a:lstStyle/>
          <a:p>
            <a:pPr indent="0" marL="0">
              <a:buNone/>
            </a:pPr>
            <a:r>
              <a:rPr lang="en-US" sz="1400" b="1" dirty="0">
                <a:solidFill>
                  <a:schemeClr val="tx1"/>
                </a:solidFill>
              </a:rPr>
              <a:t>Scan run again</a:t>
            </a:r>
            <a:endParaRPr lang="en-US" sz="1400" dirty="0"/>
          </a:p>
        </p:txBody>
      </p:sp>
      <p:sp>
        <p:nvSpPr>
          <p:cNvPr id="14" name="text-182"/>
          <p:cNvSpPr txBox="1"/>
          <p:nvPr/>
        </p:nvSpPr>
        <p:spPr>
          <a:xfrm>
            <a:off x="3749040" y="2331720"/>
            <a:ext cx="3017520" cy="548640"/>
          </a:xfrm>
          <a:prstGeom prst="rect">
            <a:avLst/>
          </a:prstGeom>
          <a:noFill/>
          <a:ln/>
        </p:spPr>
        <p:txBody>
          <a:bodyPr wrap="square" lIns="0" tIns="0" rIns="0" bIns="0" rtlCol="0" anchor="ctr"/>
          <a:lstStyle/>
          <a:p>
            <a:pPr indent="0" marL="0">
              <a:buNone/>
            </a:pPr>
            <a:r>
              <a:rPr lang="en-US" sz="1200" dirty="0">
                <a:solidFill>
                  <a:schemeClr val="tx2"/>
                </a:solidFill>
              </a:rPr>
              <a:t>Alerts 5 -&gt; 5: 0 opened, nothing duplicated or re-opened</a:t>
            </a:r>
            <a:endParaRPr lang="en-US" sz="1200" dirty="0"/>
          </a:p>
        </p:txBody>
      </p:sp>
      <p:sp>
        <p:nvSpPr>
          <p:cNvPr id="15" name="pill-183"/>
          <p:cNvSpPr/>
          <p:nvPr/>
        </p:nvSpPr>
        <p:spPr>
          <a:xfrm>
            <a:off x="6949440" y="2377440"/>
            <a:ext cx="1737360" cy="292608"/>
          </a:xfrm>
          <a:prstGeom prst="roundRect">
            <a:avLst>
              <a:gd name="adj" fmla="val 50000"/>
            </a:avLst>
          </a:prstGeom>
          <a:solidFill>
            <a:schemeClr val="accent3"/>
          </a:solidFill>
          <a:ln w="12700">
            <a:solidFill>
              <a:schemeClr val="accent3"/>
            </a:solidFill>
            <a:prstDash val="solid"/>
          </a:ln>
        </p:spPr>
      </p:sp>
      <p:sp>
        <p:nvSpPr>
          <p:cNvPr id="16" name="pill-text-184"/>
          <p:cNvSpPr txBox="1"/>
          <p:nvPr/>
        </p:nvSpPr>
        <p:spPr>
          <a:xfrm>
            <a:off x="6949440" y="2377440"/>
            <a:ext cx="1737360" cy="292608"/>
          </a:xfrm>
          <a:prstGeom prst="rect">
            <a:avLst/>
          </a:prstGeom>
          <a:noFill/>
          <a:ln/>
        </p:spPr>
        <p:txBody>
          <a:bodyPr wrap="square" lIns="0" tIns="0" rIns="0" bIns="0" rtlCol="0" anchor="ctr"/>
          <a:lstStyle/>
          <a:p>
            <a:pPr algn="ctr" indent="0" marL="0">
              <a:buNone/>
            </a:pPr>
            <a:r>
              <a:rPr lang="en-US" sz="1100" b="1" dirty="0">
                <a:solidFill>
                  <a:schemeClr val="bg1"/>
                </a:solidFill>
              </a:rPr>
              <a:t>IDEMPOTENT</a:t>
            </a:r>
            <a:endParaRPr lang="en-US" sz="1100" dirty="0"/>
          </a:p>
        </p:txBody>
      </p:sp>
      <p:sp>
        <p:nvSpPr>
          <p:cNvPr id="17" name="badge-185"/>
          <p:cNvSpPr/>
          <p:nvPr/>
        </p:nvSpPr>
        <p:spPr>
          <a:xfrm>
            <a:off x="457200" y="3108960"/>
            <a:ext cx="384048" cy="384048"/>
          </a:xfrm>
          <a:prstGeom prst="ellipse">
            <a:avLst/>
          </a:prstGeom>
          <a:solidFill>
            <a:schemeClr val="accent1"/>
          </a:solidFill>
          <a:ln w="12700">
            <a:solidFill>
              <a:schemeClr val="accent1"/>
            </a:solidFill>
            <a:prstDash val="solid"/>
          </a:ln>
        </p:spPr>
      </p:sp>
      <p:sp>
        <p:nvSpPr>
          <p:cNvPr id="18" name="badge-num-186"/>
          <p:cNvSpPr txBox="1"/>
          <p:nvPr/>
        </p:nvSpPr>
        <p:spPr>
          <a:xfrm>
            <a:off x="457200" y="310896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10</a:t>
            </a:r>
            <a:endParaRPr lang="en-US" sz="1300" dirty="0"/>
          </a:p>
        </p:txBody>
      </p:sp>
      <p:sp>
        <p:nvSpPr>
          <p:cNvPr id="19" name="text-187"/>
          <p:cNvSpPr txBox="1"/>
          <p:nvPr/>
        </p:nvSpPr>
        <p:spPr>
          <a:xfrm>
            <a:off x="960120" y="3108960"/>
            <a:ext cx="2743200" cy="384048"/>
          </a:xfrm>
          <a:prstGeom prst="rect">
            <a:avLst/>
          </a:prstGeom>
          <a:noFill/>
          <a:ln/>
        </p:spPr>
        <p:txBody>
          <a:bodyPr wrap="square" lIns="0" tIns="0" rIns="0" bIns="0" rtlCol="0" anchor="ctr"/>
          <a:lstStyle/>
          <a:p>
            <a:pPr indent="0" marL="0">
              <a:buNone/>
            </a:pPr>
            <a:r>
              <a:rPr lang="en-US" sz="1400" b="1" dirty="0">
                <a:solidFill>
                  <a:schemeClr val="tx1"/>
                </a:solidFill>
              </a:rPr>
              <a:t>Late machine log for CHN-ADY-002</a:t>
            </a:r>
            <a:endParaRPr lang="en-US" sz="1400" dirty="0"/>
          </a:p>
        </p:txBody>
      </p:sp>
      <p:sp>
        <p:nvSpPr>
          <p:cNvPr id="20" name="text-188"/>
          <p:cNvSpPr txBox="1"/>
          <p:nvPr/>
        </p:nvSpPr>
        <p:spPr>
          <a:xfrm>
            <a:off x="3749040" y="3108960"/>
            <a:ext cx="3017520" cy="548640"/>
          </a:xfrm>
          <a:prstGeom prst="rect">
            <a:avLst/>
          </a:prstGeom>
          <a:noFill/>
          <a:ln/>
        </p:spPr>
        <p:txBody>
          <a:bodyPr wrap="square" lIns="0" tIns="0" rIns="0" bIns="0" rtlCol="0" anchor="ctr"/>
          <a:lstStyle/>
          <a:p>
            <a:pPr indent="0" marL="0">
              <a:buNone/>
            </a:pPr>
            <a:r>
              <a:rPr lang="en-US" sz="1200" dirty="0">
                <a:solidFill>
                  <a:schemeClr val="tx2"/>
                </a:solidFill>
              </a:rPr>
              <a:t>OPEN -&gt; EVIDENCE_RECEIVED; invoice hold stays (1 -&gt; 1)</a:t>
            </a:r>
            <a:endParaRPr lang="en-US" sz="1200" dirty="0"/>
          </a:p>
        </p:txBody>
      </p:sp>
      <p:sp>
        <p:nvSpPr>
          <p:cNvPr id="21" name="pill-189"/>
          <p:cNvSpPr/>
          <p:nvPr/>
        </p:nvSpPr>
        <p:spPr>
          <a:xfrm>
            <a:off x="6949440" y="3154680"/>
            <a:ext cx="1737360" cy="292608"/>
          </a:xfrm>
          <a:prstGeom prst="roundRect">
            <a:avLst>
              <a:gd name="adj" fmla="val 50000"/>
            </a:avLst>
          </a:prstGeom>
          <a:solidFill>
            <a:schemeClr val="accent3"/>
          </a:solidFill>
          <a:ln w="12700">
            <a:solidFill>
              <a:schemeClr val="accent3"/>
            </a:solidFill>
            <a:prstDash val="solid"/>
          </a:ln>
        </p:spPr>
      </p:sp>
      <p:sp>
        <p:nvSpPr>
          <p:cNvPr id="22" name="pill-text-190"/>
          <p:cNvSpPr txBox="1"/>
          <p:nvPr/>
        </p:nvSpPr>
        <p:spPr>
          <a:xfrm>
            <a:off x="6949440" y="3154680"/>
            <a:ext cx="1737360" cy="292608"/>
          </a:xfrm>
          <a:prstGeom prst="rect">
            <a:avLst/>
          </a:prstGeom>
          <a:noFill/>
          <a:ln/>
        </p:spPr>
        <p:txBody>
          <a:bodyPr wrap="square" lIns="0" tIns="0" rIns="0" bIns="0" rtlCol="0" anchor="ctr"/>
          <a:lstStyle/>
          <a:p>
            <a:pPr algn="ctr" indent="0" marL="0">
              <a:buNone/>
            </a:pPr>
            <a:r>
              <a:rPr lang="en-US" sz="1100" b="1" dirty="0">
                <a:solidFill>
                  <a:schemeClr val="bg1"/>
                </a:solidFill>
              </a:rPr>
              <a:t>TO A HUMAN</a:t>
            </a:r>
            <a:endParaRPr lang="en-US" sz="1100" dirty="0"/>
          </a:p>
        </p:txBody>
      </p:sp>
      <p:sp>
        <p:nvSpPr>
          <p:cNvPr id="23" name="badge-191"/>
          <p:cNvSpPr/>
          <p:nvPr/>
        </p:nvSpPr>
        <p:spPr>
          <a:xfrm>
            <a:off x="457200" y="3886200"/>
            <a:ext cx="384048" cy="384048"/>
          </a:xfrm>
          <a:prstGeom prst="ellipse">
            <a:avLst/>
          </a:prstGeom>
          <a:solidFill>
            <a:schemeClr val="accent1"/>
          </a:solidFill>
          <a:ln w="12700">
            <a:solidFill>
              <a:schemeClr val="accent1"/>
            </a:solidFill>
            <a:prstDash val="solid"/>
          </a:ln>
        </p:spPr>
      </p:sp>
      <p:sp>
        <p:nvSpPr>
          <p:cNvPr id="24" name="badge-num-192"/>
          <p:cNvSpPr txBox="1"/>
          <p:nvPr/>
        </p:nvSpPr>
        <p:spPr>
          <a:xfrm>
            <a:off x="457200" y="388620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12</a:t>
            </a:r>
            <a:endParaRPr lang="en-US" sz="1300" dirty="0"/>
          </a:p>
        </p:txBody>
      </p:sp>
      <p:sp>
        <p:nvSpPr>
          <p:cNvPr id="25" name="text-193"/>
          <p:cNvSpPr txBox="1"/>
          <p:nvPr/>
        </p:nvSpPr>
        <p:spPr>
          <a:xfrm>
            <a:off x="960120" y="3886200"/>
            <a:ext cx="2743200" cy="384048"/>
          </a:xfrm>
          <a:prstGeom prst="rect">
            <a:avLst/>
          </a:prstGeom>
          <a:noFill/>
          <a:ln/>
        </p:spPr>
        <p:txBody>
          <a:bodyPr wrap="square" lIns="0" tIns="0" rIns="0" bIns="0" rtlCol="0" anchor="ctr"/>
          <a:lstStyle/>
          <a:p>
            <a:pPr indent="0" marL="0">
              <a:buNone/>
            </a:pPr>
            <a:r>
              <a:rPr lang="en-US" sz="1400" b="1" dirty="0">
                <a:solidFill>
                  <a:schemeClr val="tx1"/>
                </a:solidFill>
              </a:rPr>
              <a:t>Supervisor tries to decide</a:t>
            </a:r>
            <a:endParaRPr lang="en-US" sz="1400" dirty="0"/>
          </a:p>
        </p:txBody>
      </p:sp>
      <p:sp>
        <p:nvSpPr>
          <p:cNvPr id="26" name="text-194"/>
          <p:cNvSpPr txBox="1"/>
          <p:nvPr/>
        </p:nvSpPr>
        <p:spPr>
          <a:xfrm>
            <a:off x="3749040" y="3886200"/>
            <a:ext cx="3017520" cy="548640"/>
          </a:xfrm>
          <a:prstGeom prst="rect">
            <a:avLst/>
          </a:prstGeom>
          <a:noFill/>
          <a:ln/>
        </p:spPr>
        <p:txBody>
          <a:bodyPr wrap="square" lIns="0" tIns="0" rIns="0" bIns="0" rtlCol="0" anchor="ctr"/>
          <a:lstStyle/>
          <a:p>
            <a:pPr indent="0" marL="0">
              <a:buNone/>
            </a:pPr>
            <a:r>
              <a:rPr lang="en-US" sz="1200" dirty="0">
                <a:solidFill>
                  <a:schemeClr val="tx2"/>
                </a:solidFill>
              </a:rPr>
              <a:t>Only an ENGINEER or ADMIN may decide; alert stays OPEN</a:t>
            </a:r>
            <a:endParaRPr lang="en-US" sz="1200" dirty="0"/>
          </a:p>
        </p:txBody>
      </p:sp>
      <p:sp>
        <p:nvSpPr>
          <p:cNvPr id="27" name="pill-195"/>
          <p:cNvSpPr/>
          <p:nvPr/>
        </p:nvSpPr>
        <p:spPr>
          <a:xfrm>
            <a:off x="6949440" y="3931920"/>
            <a:ext cx="1737360" cy="292608"/>
          </a:xfrm>
          <a:prstGeom prst="roundRect">
            <a:avLst>
              <a:gd name="adj" fmla="val 50000"/>
            </a:avLst>
          </a:prstGeom>
          <a:solidFill>
            <a:schemeClr val="accent2"/>
          </a:solidFill>
          <a:ln w="12700">
            <a:solidFill>
              <a:schemeClr val="accent2"/>
            </a:solidFill>
            <a:prstDash val="solid"/>
          </a:ln>
        </p:spPr>
      </p:sp>
      <p:sp>
        <p:nvSpPr>
          <p:cNvPr id="28" name="pill-text-196"/>
          <p:cNvSpPr txBox="1"/>
          <p:nvPr/>
        </p:nvSpPr>
        <p:spPr>
          <a:xfrm>
            <a:off x="6949440" y="3931920"/>
            <a:ext cx="1737360" cy="292608"/>
          </a:xfrm>
          <a:prstGeom prst="rect">
            <a:avLst/>
          </a:prstGeom>
          <a:noFill/>
          <a:ln/>
        </p:spPr>
        <p:txBody>
          <a:bodyPr wrap="square" lIns="0" tIns="0" rIns="0" bIns="0" rtlCol="0" anchor="ctr"/>
          <a:lstStyle/>
          <a:p>
            <a:pPr algn="ctr" indent="0" marL="0">
              <a:buNone/>
            </a:pPr>
            <a:r>
              <a:rPr lang="en-US" sz="1100" b="1" dirty="0">
                <a:solidFill>
                  <a:schemeClr val="bg1"/>
                </a:solidFill>
              </a:rPr>
              <a:t>REFUSED  ZE006</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Dismissing an alert releases exactly its own hold</a:t>
            </a:r>
            <a:endParaRPr lang="en-US" sz="2600" dirty="0"/>
          </a:p>
        </p:txBody>
      </p:sp>
      <p:sp>
        <p:nvSpPr>
          <p:cNvPr id="3" name="badge-197"/>
          <p:cNvSpPr/>
          <p:nvPr/>
        </p:nvSpPr>
        <p:spPr>
          <a:xfrm>
            <a:off x="457200" y="1143000"/>
            <a:ext cx="384048" cy="384048"/>
          </a:xfrm>
          <a:prstGeom prst="ellipse">
            <a:avLst/>
          </a:prstGeom>
          <a:solidFill>
            <a:schemeClr val="accent1"/>
          </a:solidFill>
          <a:ln w="12700">
            <a:solidFill>
              <a:schemeClr val="accent1"/>
            </a:solidFill>
            <a:prstDash val="solid"/>
          </a:ln>
        </p:spPr>
      </p:sp>
      <p:sp>
        <p:nvSpPr>
          <p:cNvPr id="4" name="badge-num-198"/>
          <p:cNvSpPr txBox="1"/>
          <p:nvPr/>
        </p:nvSpPr>
        <p:spPr>
          <a:xfrm>
            <a:off x="457200" y="114300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11</a:t>
            </a:r>
            <a:endParaRPr lang="en-US" sz="1300" dirty="0"/>
          </a:p>
        </p:txBody>
      </p:sp>
      <p:sp>
        <p:nvSpPr>
          <p:cNvPr id="5" name="text-199"/>
          <p:cNvSpPr txBox="1"/>
          <p:nvPr/>
        </p:nvSpPr>
        <p:spPr>
          <a:xfrm>
            <a:off x="960120" y="1143000"/>
            <a:ext cx="3383280" cy="640080"/>
          </a:xfrm>
          <a:prstGeom prst="rect">
            <a:avLst/>
          </a:prstGeom>
          <a:noFill/>
          <a:ln/>
        </p:spPr>
        <p:txBody>
          <a:bodyPr wrap="square" lIns="0" tIns="0" rIns="0" bIns="0" rtlCol="0" anchor="ctr"/>
          <a:lstStyle/>
          <a:p>
            <a:pPr indent="0" marL="0">
              <a:buNone/>
            </a:pPr>
            <a:r>
              <a:rPr lang="en-US" sz="1500" b="1" dirty="0">
                <a:solidFill>
                  <a:schemeClr val="tx1"/>
                </a:solidFill>
              </a:rPr>
              <a:t>Engineer dismisses the CHN-ADY-006 alert with a written note</a:t>
            </a:r>
            <a:endParaRPr lang="en-US" sz="1500" dirty="0"/>
          </a:p>
        </p:txBody>
      </p:sp>
      <p:sp>
        <p:nvSpPr>
          <p:cNvPr id="6" name="text-200"/>
          <p:cNvSpPr txBox="1"/>
          <p:nvPr/>
        </p:nvSpPr>
        <p:spPr>
          <a:xfrm>
            <a:off x="457200" y="1965960"/>
            <a:ext cx="3749040" cy="1097280"/>
          </a:xfrm>
          <a:prstGeom prst="rect">
            <a:avLst/>
          </a:prstGeom>
          <a:noFill/>
          <a:ln/>
        </p:spPr>
        <p:txBody>
          <a:bodyPr wrap="square" lIns="0" tIns="0" rIns="0" bIns="0" rtlCol="0" anchor="t"/>
          <a:lstStyle/>
          <a:p>
            <a:pPr indent="0" marL="0">
              <a:buNone/>
            </a:pPr>
            <a:r>
              <a:rPr lang="en-US" sz="1300" dirty="0">
                <a:solidFill>
                  <a:schemeClr val="tx2"/>
                </a:solidFill>
              </a:rPr>
              <a:t>Holds remember their source, an alert or an incident, so a release can never free an invoice that something else is still holding.</a:t>
            </a:r>
            <a:endParaRPr lang="en-US" sz="1300" dirty="0"/>
          </a:p>
        </p:txBody>
      </p:sp>
      <p:sp>
        <p:nvSpPr>
          <p:cNvPr id="7" name="pill-201"/>
          <p:cNvSpPr/>
          <p:nvPr/>
        </p:nvSpPr>
        <p:spPr>
          <a:xfrm>
            <a:off x="457200" y="3200400"/>
            <a:ext cx="2377440" cy="292608"/>
          </a:xfrm>
          <a:prstGeom prst="roundRect">
            <a:avLst>
              <a:gd name="adj" fmla="val 50000"/>
            </a:avLst>
          </a:prstGeom>
          <a:solidFill>
            <a:schemeClr val="accent3"/>
          </a:solidFill>
          <a:ln w="12700">
            <a:solidFill>
              <a:schemeClr val="accent3"/>
            </a:solidFill>
            <a:prstDash val="solid"/>
          </a:ln>
        </p:spPr>
      </p:sp>
      <p:sp>
        <p:nvSpPr>
          <p:cNvPr id="8" name="pill-text-202"/>
          <p:cNvSpPr txBox="1"/>
          <p:nvPr/>
        </p:nvSpPr>
        <p:spPr>
          <a:xfrm>
            <a:off x="457200" y="3200400"/>
            <a:ext cx="2377440" cy="292608"/>
          </a:xfrm>
          <a:prstGeom prst="rect">
            <a:avLst/>
          </a:prstGeom>
          <a:noFill/>
          <a:ln/>
        </p:spPr>
        <p:txBody>
          <a:bodyPr wrap="square" lIns="0" tIns="0" rIns="0" bIns="0" rtlCol="0" anchor="ctr"/>
          <a:lstStyle/>
          <a:p>
            <a:pPr algn="ctr" indent="0" marL="0">
              <a:buNone/>
            </a:pPr>
            <a:r>
              <a:rPr lang="en-US" sz="1100" b="1" dirty="0">
                <a:solidFill>
                  <a:schemeClr val="bg1"/>
                </a:solidFill>
              </a:rPr>
              <a:t>ONLY ITS OWN HOLD</a:t>
            </a:r>
            <a:endParaRPr lang="en-US" sz="1100" dirty="0"/>
          </a:p>
        </p:txBody>
      </p:sp>
      <p:graphicFrame>
        <p:nvGraphicFramePr>
          <p:cNvPr id="9" name="holds-chart" descr=""/>
          <p:cNvGraphicFramePr/>
          <p:nvPr/>
        </p:nvGraphicFramePr>
        <p:xfrm>
          <a:off x="4480560" y="1097280"/>
          <a:ext cx="4206240" cy="32918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A death is one transaction: all of it, or none of it</a:t>
            </a:r>
            <a:endParaRPr lang="en-US" sz="2600" dirty="0"/>
          </a:p>
        </p:txBody>
      </p:sp>
      <p:sp>
        <p:nvSpPr>
          <p:cNvPr id="3" name="badge-203"/>
          <p:cNvSpPr/>
          <p:nvPr/>
        </p:nvSpPr>
        <p:spPr>
          <a:xfrm>
            <a:off x="457200" y="1097280"/>
            <a:ext cx="384048" cy="384048"/>
          </a:xfrm>
          <a:prstGeom prst="ellipse">
            <a:avLst/>
          </a:prstGeom>
          <a:solidFill>
            <a:schemeClr val="accent1"/>
          </a:solidFill>
          <a:ln w="12700">
            <a:solidFill>
              <a:schemeClr val="accent1"/>
            </a:solidFill>
            <a:prstDash val="solid"/>
          </a:ln>
        </p:spPr>
      </p:sp>
      <p:sp>
        <p:nvSpPr>
          <p:cNvPr id="4" name="badge-num-204"/>
          <p:cNvSpPr txBox="1"/>
          <p:nvPr/>
        </p:nvSpPr>
        <p:spPr>
          <a:xfrm>
            <a:off x="457200" y="10972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14</a:t>
            </a:r>
            <a:endParaRPr lang="en-US" sz="1300" dirty="0"/>
          </a:p>
        </p:txBody>
      </p:sp>
      <p:sp>
        <p:nvSpPr>
          <p:cNvPr id="5" name="text-205"/>
          <p:cNvSpPr txBox="1"/>
          <p:nvPr/>
        </p:nvSpPr>
        <p:spPr>
          <a:xfrm>
            <a:off x="960120" y="1097280"/>
            <a:ext cx="3474720" cy="411480"/>
          </a:xfrm>
          <a:prstGeom prst="rect">
            <a:avLst/>
          </a:prstGeom>
          <a:noFill/>
          <a:ln/>
        </p:spPr>
        <p:txBody>
          <a:bodyPr wrap="square" lIns="0" tIns="0" rIns="0" bIns="0" rtlCol="0" anchor="ctr"/>
          <a:lstStyle/>
          <a:p>
            <a:pPr indent="0" marL="0">
              <a:buNone/>
            </a:pPr>
            <a:r>
              <a:rPr lang="en-US" sz="1500" b="1" dirty="0">
                <a:solidFill>
                  <a:schemeClr val="tx1"/>
                </a:solidFill>
              </a:rPr>
              <a:t>A fatality is recorded</a:t>
            </a:r>
            <a:endParaRPr lang="en-US" sz="1500" dirty="0"/>
          </a:p>
        </p:txBody>
      </p:sp>
      <p:graphicFrame>
        <p:nvGraphicFramePr>
          <p:cNvPr id="11" name="state-table-206"/>
          <p:cNvGraphicFramePr>
            <a:graphicFrameLocks noGrp="1"/>
          </p:cNvGraphicFramePr>
          <p:nvPr>
            <p:extLst>
              <p:ext uri="{D42A27DB-BD31-4B8C-83A1-F6EECF244321}">
                <p14:modId xmlns:p14="http://schemas.microsoft.com/office/powerpoint/2010/main" val="1579011935"/>
              </p:ext>
            </p:extLst>
          </p:nvPr>
        </p:nvGraphicFramePr>
        <p:xfrm>
          <a:off x="457200" y="1645920"/>
          <a:ext cx="3977640" cy="914400"/>
        </p:xfrm>
        <a:graphic>
          <a:graphicData uri="http://schemas.openxmlformats.org/drawingml/2006/table">
            <a:tbl>
              <a:tblPr/>
              <a:tblGrid>
                <a:gridCol w="1691640"/>
                <a:gridCol w="914400"/>
                <a:gridCol w="1371600"/>
              </a:tblGrid>
              <a:tr h="329184">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State</a:t>
                      </a:r>
                      <a:endParaRPr lang="en-US" sz="13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Before</a:t>
                      </a:r>
                      <a:endParaRPr lang="en-US" sz="13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After</a:t>
                      </a:r>
                      <a:endParaRPr lang="en-US" sz="13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chemeClr val="tx2"/>
                    </a:solidFill>
                  </a:tcPr>
                </a:tc>
              </a:tr>
              <a:tr h="329184">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Incidents</a:t>
                      </a:r>
                      <a:endParaRPr lang="en-US" sz="13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tcPr>
                </a:tc>
                <a:tc>
                  <a:txBody>
                    <a:bodyPr/>
                    <a:lstStyle/>
                    <a:p>
                      <a:pPr algn="ctr" indent="0" marL="0">
                        <a:buNone/>
                      </a:pPr>
                      <a:r>
                        <a:rPr lang="en-US" sz="1300" b="1" dirty="0">
                          <a:solidFill>
                            <a:schemeClr val="accent3"/>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tcPr>
                </a:tc>
              </a:tr>
              <a:tr h="329184">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Compensation cases</a:t>
                      </a:r>
                      <a:endParaRPr lang="en-US" sz="13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tcPr>
                </a:tc>
                <a:tc>
                  <a:txBody>
                    <a:bodyPr/>
                    <a:lstStyle/>
                    <a:p>
                      <a:pPr algn="ctr" indent="0" marL="0">
                        <a:buNone/>
                      </a:pPr>
                      <a:r>
                        <a:rPr lang="en-US" sz="1300" b="1" dirty="0">
                          <a:solidFill>
                            <a:schemeClr val="accent3"/>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tcPr>
                </a:tc>
              </a:tr>
              <a:tr h="329184">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Contractor</a:t>
                      </a:r>
                      <a:endParaRPr lang="en-US" sz="13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ACTIVE</a:t>
                      </a:r>
                      <a:endParaRPr lang="en-US" sz="13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tcPr>
                </a:tc>
                <a:tc>
                  <a:txBody>
                    <a:bodyPr/>
                    <a:lstStyle/>
                    <a:p>
                      <a:pPr algn="ctr" indent="0" marL="0">
                        <a:buNone/>
                      </a:pPr>
                      <a:r>
                        <a:rPr lang="en-US" sz="1300" b="1" dirty="0">
                          <a:solidFill>
                            <a:schemeClr val="accent3"/>
                          </a:solidFill>
                          <a:latin typeface="Calibri" pitchFamily="34" charset="0"/>
                          <a:ea typeface="Calibri" pitchFamily="34" charset="-122"/>
                          <a:cs typeface="Calibri" pitchFamily="34" charset="-120"/>
                        </a:rPr>
                        <a:t>BLACKLISTED</a:t>
                      </a:r>
                      <a:endParaRPr lang="en-US" sz="13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tcPr>
                </a:tc>
              </a:tr>
              <a:tr h="329184">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Can get a new job</a:t>
                      </a:r>
                      <a:endParaRPr lang="en-US" sz="13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tcPr>
                </a:tc>
                <a:tc>
                  <a:txBody>
                    <a:bodyPr/>
                    <a:lstStyle/>
                    <a:p>
                      <a:pPr algn="ctr" indent="0" marL="0">
                        <a:buNone/>
                      </a:pPr>
                      <a:r>
                        <a:rPr lang="en-US" sz="1300" b="1" dirty="0">
                          <a:solidFill>
                            <a:schemeClr val="accent3"/>
                          </a:solidFill>
                          <a:latin typeface="Calibri" pitchFamily="34" charset="0"/>
                          <a:ea typeface="Calibri" pitchFamily="34" charset="-122"/>
                          <a:cs typeface="Calibri" pitchFamily="34" charset="-120"/>
                        </a:rPr>
                        <a:t>no (ZE003)</a:t>
                      </a:r>
                      <a:endParaRPr lang="en-US" sz="13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tcPr>
                </a:tc>
              </a:tr>
            </a:tbl>
          </a:graphicData>
        </a:graphic>
      </p:graphicFrame>
      <p:sp>
        <p:nvSpPr>
          <p:cNvPr id="7" name="text-207"/>
          <p:cNvSpPr txBox="1"/>
          <p:nvPr/>
        </p:nvSpPr>
        <p:spPr>
          <a:xfrm>
            <a:off x="457200" y="3429000"/>
            <a:ext cx="3977640" cy="457200"/>
          </a:xfrm>
          <a:prstGeom prst="rect">
            <a:avLst/>
          </a:prstGeom>
          <a:noFill/>
          <a:ln/>
        </p:spPr>
        <p:txBody>
          <a:bodyPr wrap="square" lIns="0" tIns="0" rIns="0" bIns="0" rtlCol="0" anchor="t"/>
          <a:lstStyle/>
          <a:p>
            <a:pPr indent="0" marL="0">
              <a:buNone/>
            </a:pPr>
            <a:r>
              <a:rPr lang="en-US" sz="1200" dirty="0">
                <a:solidFill>
                  <a:schemeClr val="tx2"/>
                </a:solidFill>
              </a:rPr>
              <a:t>CALL record_incident(...): a new INR 30 lakh case with a deadline, from one procedure call.</a:t>
            </a:r>
            <a:endParaRPr lang="en-US" sz="1200" dirty="0"/>
          </a:p>
        </p:txBody>
      </p:sp>
      <p:sp>
        <p:nvSpPr>
          <p:cNvPr id="8" name="badge-208"/>
          <p:cNvSpPr/>
          <p:nvPr/>
        </p:nvSpPr>
        <p:spPr>
          <a:xfrm>
            <a:off x="4709160" y="1097280"/>
            <a:ext cx="384048" cy="384048"/>
          </a:xfrm>
          <a:prstGeom prst="ellipse">
            <a:avLst/>
          </a:prstGeom>
          <a:solidFill>
            <a:schemeClr val="accent1"/>
          </a:solidFill>
          <a:ln w="12700">
            <a:solidFill>
              <a:schemeClr val="accent1"/>
            </a:solidFill>
            <a:prstDash val="solid"/>
          </a:ln>
        </p:spPr>
      </p:sp>
      <p:sp>
        <p:nvSpPr>
          <p:cNvPr id="9" name="badge-num-209"/>
          <p:cNvSpPr txBox="1"/>
          <p:nvPr/>
        </p:nvSpPr>
        <p:spPr>
          <a:xfrm>
            <a:off x="4709160" y="10972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15</a:t>
            </a:r>
            <a:endParaRPr lang="en-US" sz="1300" dirty="0"/>
          </a:p>
        </p:txBody>
      </p:sp>
      <p:sp>
        <p:nvSpPr>
          <p:cNvPr id="10" name="text-210"/>
          <p:cNvSpPr txBox="1"/>
          <p:nvPr/>
        </p:nvSpPr>
        <p:spPr>
          <a:xfrm>
            <a:off x="5212080" y="1097280"/>
            <a:ext cx="3474720" cy="411480"/>
          </a:xfrm>
          <a:prstGeom prst="rect">
            <a:avLst/>
          </a:prstGeom>
          <a:noFill/>
          <a:ln/>
        </p:spPr>
        <p:txBody>
          <a:bodyPr wrap="square" lIns="0" tIns="0" rIns="0" bIns="0" rtlCol="0" anchor="ctr"/>
          <a:lstStyle/>
          <a:p>
            <a:pPr indent="0" marL="0">
              <a:buNone/>
            </a:pPr>
            <a:r>
              <a:rPr lang="en-US" sz="1500" b="1" dirty="0">
                <a:solidFill>
                  <a:schemeClr val="tx1"/>
                </a:solidFill>
              </a:rPr>
              <a:t>Same call fails half-way</a:t>
            </a:r>
            <a:endParaRPr lang="en-US" sz="1500" dirty="0"/>
          </a:p>
        </p:txBody>
      </p:sp>
      <p:sp>
        <p:nvSpPr>
          <p:cNvPr id="11" name="text-211"/>
          <p:cNvSpPr txBox="1"/>
          <p:nvPr/>
        </p:nvSpPr>
        <p:spPr>
          <a:xfrm>
            <a:off x="4709160" y="1645920"/>
            <a:ext cx="3977640" cy="685800"/>
          </a:xfrm>
          <a:prstGeom prst="rect">
            <a:avLst/>
          </a:prstGeom>
          <a:noFill/>
          <a:ln/>
        </p:spPr>
        <p:txBody>
          <a:bodyPr wrap="square" lIns="0" tIns="0" rIns="0" bIns="0" rtlCol="0" anchor="t"/>
          <a:lstStyle/>
          <a:p>
            <a:pPr indent="0" marL="0">
              <a:buNone/>
            </a:pPr>
            <a:r>
              <a:rPr lang="en-US" sz="1300" dirty="0">
                <a:solidFill>
                  <a:schemeClr val="tx2"/>
                </a:solidFill>
              </a:rPr>
              <a:t>The amount is mis-configured to 0, so a CHECK fails after the incident row is already written.</a:t>
            </a:r>
            <a:endParaRPr lang="en-US" sz="1300" dirty="0"/>
          </a:p>
        </p:txBody>
      </p:sp>
      <p:sp>
        <p:nvSpPr>
          <p:cNvPr id="12" name="pill-212"/>
          <p:cNvSpPr/>
          <p:nvPr/>
        </p:nvSpPr>
        <p:spPr>
          <a:xfrm>
            <a:off x="4709160" y="2377440"/>
            <a:ext cx="2194560" cy="292608"/>
          </a:xfrm>
          <a:prstGeom prst="roundRect">
            <a:avLst>
              <a:gd name="adj" fmla="val 50000"/>
            </a:avLst>
          </a:prstGeom>
          <a:solidFill>
            <a:schemeClr val="accent2"/>
          </a:solidFill>
          <a:ln w="12700">
            <a:solidFill>
              <a:schemeClr val="accent2"/>
            </a:solidFill>
            <a:prstDash val="solid"/>
          </a:ln>
        </p:spPr>
      </p:sp>
      <p:sp>
        <p:nvSpPr>
          <p:cNvPr id="13" name="pill-text-213"/>
          <p:cNvSpPr txBox="1"/>
          <p:nvPr/>
        </p:nvSpPr>
        <p:spPr>
          <a:xfrm>
            <a:off x="4709160" y="2377440"/>
            <a:ext cx="2194560" cy="292608"/>
          </a:xfrm>
          <a:prstGeom prst="rect">
            <a:avLst/>
          </a:prstGeom>
          <a:noFill/>
          <a:ln/>
        </p:spPr>
        <p:txBody>
          <a:bodyPr wrap="square" lIns="0" tIns="0" rIns="0" bIns="0" rtlCol="0" anchor="ctr"/>
          <a:lstStyle/>
          <a:p>
            <a:pPr algn="ctr" indent="0" marL="0">
              <a:buNone/>
            </a:pPr>
            <a:r>
              <a:rPr lang="en-US" sz="1100" b="1" dirty="0">
                <a:solidFill>
                  <a:schemeClr val="bg1"/>
                </a:solidFill>
              </a:rPr>
              <a:t>ROLLED BACK  23514</a:t>
            </a:r>
            <a:endParaRPr lang="en-US" sz="1100" dirty="0"/>
          </a:p>
        </p:txBody>
      </p:sp>
      <p:sp>
        <p:nvSpPr>
          <p:cNvPr id="14" name="text-214"/>
          <p:cNvSpPr txBox="1"/>
          <p:nvPr/>
        </p:nvSpPr>
        <p:spPr>
          <a:xfrm>
            <a:off x="4709160" y="2788920"/>
            <a:ext cx="3977640" cy="548640"/>
          </a:xfrm>
          <a:prstGeom prst="rect">
            <a:avLst/>
          </a:prstGeom>
          <a:noFill/>
          <a:ln/>
        </p:spPr>
        <p:txBody>
          <a:bodyPr wrap="square" lIns="0" tIns="0" rIns="0" bIns="0" rtlCol="0" anchor="t"/>
          <a:lstStyle/>
          <a:p>
            <a:pPr indent="0" marL="0">
              <a:buNone/>
            </a:pPr>
            <a:r>
              <a:rPr lang="en-US" sz="1300" b="1" dirty="0">
                <a:solidFill>
                  <a:schemeClr val="tx1"/>
                </a:solidFill>
              </a:rPr>
              <a:t>Incidents 3 -&gt; 3, cases 2 -&gt; 2, blacklisted 1 -&gt; 1. Nothing half-done.</a:t>
            </a:r>
            <a:endParaRPr lang="en-US" sz="1300" dirty="0"/>
          </a:p>
        </p:txBody>
      </p:sp>
      <p:sp>
        <p:nvSpPr>
          <p:cNvPr id="15" name="badge-215"/>
          <p:cNvSpPr/>
          <p:nvPr/>
        </p:nvSpPr>
        <p:spPr>
          <a:xfrm>
            <a:off x="4709160" y="3429000"/>
            <a:ext cx="384048" cy="384048"/>
          </a:xfrm>
          <a:prstGeom prst="ellipse">
            <a:avLst/>
          </a:prstGeom>
          <a:solidFill>
            <a:schemeClr val="accent1"/>
          </a:solidFill>
          <a:ln w="12700">
            <a:solidFill>
              <a:schemeClr val="accent1"/>
            </a:solidFill>
            <a:prstDash val="solid"/>
          </a:ln>
        </p:spPr>
      </p:sp>
      <p:sp>
        <p:nvSpPr>
          <p:cNvPr id="16" name="badge-num-216"/>
          <p:cNvSpPr txBox="1"/>
          <p:nvPr/>
        </p:nvSpPr>
        <p:spPr>
          <a:xfrm>
            <a:off x="4709160" y="342900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13</a:t>
            </a:r>
            <a:endParaRPr lang="en-US" sz="1300" dirty="0"/>
          </a:p>
        </p:txBody>
      </p:sp>
      <p:sp>
        <p:nvSpPr>
          <p:cNvPr id="17" name="text-217"/>
          <p:cNvSpPr txBox="1"/>
          <p:nvPr/>
        </p:nvSpPr>
        <p:spPr>
          <a:xfrm>
            <a:off x="5212080" y="3429000"/>
            <a:ext cx="3474720" cy="411480"/>
          </a:xfrm>
          <a:prstGeom prst="rect">
            <a:avLst/>
          </a:prstGeom>
          <a:noFill/>
          <a:ln/>
        </p:spPr>
        <p:txBody>
          <a:bodyPr wrap="square" lIns="0" tIns="0" rIns="0" bIns="0" rtlCol="0" anchor="ctr"/>
          <a:lstStyle/>
          <a:p>
            <a:pPr indent="0" marL="0">
              <a:buNone/>
            </a:pPr>
            <a:r>
              <a:rPr lang="en-US" sz="1400" b="1" dirty="0">
                <a:solidFill>
                  <a:schemeClr val="accent2"/>
                </a:solidFill>
              </a:rPr>
              <a:t>Approving a held invoice: REFUSED  ZE003</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Two sessions collide: the second waits, then re-checks</a:t>
            </a:r>
            <a:endParaRPr lang="en-US" sz="2600" dirty="0"/>
          </a:p>
        </p:txBody>
      </p:sp>
      <p:sp>
        <p:nvSpPr>
          <p:cNvPr id="3" name="badge-218"/>
          <p:cNvSpPr/>
          <p:nvPr/>
        </p:nvSpPr>
        <p:spPr>
          <a:xfrm>
            <a:off x="457200" y="1051560"/>
            <a:ext cx="384048" cy="384048"/>
          </a:xfrm>
          <a:prstGeom prst="ellipse">
            <a:avLst/>
          </a:prstGeom>
          <a:solidFill>
            <a:schemeClr val="accent1"/>
          </a:solidFill>
          <a:ln w="12700">
            <a:solidFill>
              <a:schemeClr val="accent1"/>
            </a:solidFill>
            <a:prstDash val="solid"/>
          </a:ln>
        </p:spPr>
      </p:sp>
      <p:sp>
        <p:nvSpPr>
          <p:cNvPr id="4" name="badge-num-219"/>
          <p:cNvSpPr txBox="1"/>
          <p:nvPr/>
        </p:nvSpPr>
        <p:spPr>
          <a:xfrm>
            <a:off x="457200" y="105156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16</a:t>
            </a:r>
            <a:endParaRPr lang="en-US" sz="1300" dirty="0"/>
          </a:p>
        </p:txBody>
      </p:sp>
      <p:sp>
        <p:nvSpPr>
          <p:cNvPr id="5" name="text-220"/>
          <p:cNvSpPr txBox="1"/>
          <p:nvPr/>
        </p:nvSpPr>
        <p:spPr>
          <a:xfrm>
            <a:off x="960120" y="1051560"/>
            <a:ext cx="7680960" cy="411480"/>
          </a:xfrm>
          <a:prstGeom prst="rect">
            <a:avLst/>
          </a:prstGeom>
          <a:noFill/>
          <a:ln/>
        </p:spPr>
        <p:txBody>
          <a:bodyPr wrap="square" lIns="0" tIns="0" rIns="0" bIns="0" rtlCol="0" anchor="ctr"/>
          <a:lstStyle/>
          <a:p>
            <a:pPr indent="0" marL="0">
              <a:buNone/>
            </a:pPr>
            <a:r>
              <a:rPr lang="en-US" sz="1500" b="1" dirty="0">
                <a:solidFill>
                  <a:schemeClr val="tx1"/>
                </a:solidFill>
              </a:rPr>
              <a:t>Crew removed while the permit is being authorised</a:t>
            </a:r>
            <a:endParaRPr lang="en-US" sz="1500" dirty="0"/>
          </a:p>
        </p:txBody>
      </p:sp>
      <p:sp>
        <p:nvSpPr>
          <p:cNvPr id="6" name="text-221"/>
          <p:cNvSpPr txBox="1"/>
          <p:nvPr/>
        </p:nvSpPr>
        <p:spPr>
          <a:xfrm>
            <a:off x="457200" y="1645920"/>
            <a:ext cx="1188720" cy="457200"/>
          </a:xfrm>
          <a:prstGeom prst="rect">
            <a:avLst/>
          </a:prstGeom>
          <a:noFill/>
          <a:ln/>
        </p:spPr>
        <p:txBody>
          <a:bodyPr wrap="square" lIns="0" tIns="0" rIns="0" bIns="0" rtlCol="0" anchor="ctr"/>
          <a:lstStyle/>
          <a:p>
            <a:pPr indent="0" marL="0">
              <a:buNone/>
            </a:pPr>
            <a:r>
              <a:rPr lang="en-US" sz="1300" b="1" dirty="0">
                <a:solidFill>
                  <a:schemeClr val="tx1"/>
                </a:solidFill>
              </a:rPr>
              <a:t>Session 1</a:t>
            </a:r>
            <a:endParaRPr lang="en-US" sz="1300" dirty="0"/>
          </a:p>
        </p:txBody>
      </p:sp>
      <p:sp>
        <p:nvSpPr>
          <p:cNvPr id="7" name="text-222"/>
          <p:cNvSpPr txBox="1"/>
          <p:nvPr/>
        </p:nvSpPr>
        <p:spPr>
          <a:xfrm>
            <a:off x="457200" y="2286000"/>
            <a:ext cx="1188720" cy="457200"/>
          </a:xfrm>
          <a:prstGeom prst="rect">
            <a:avLst/>
          </a:prstGeom>
          <a:noFill/>
          <a:ln/>
        </p:spPr>
        <p:txBody>
          <a:bodyPr wrap="square" lIns="0" tIns="0" rIns="0" bIns="0" rtlCol="0" anchor="ctr"/>
          <a:lstStyle/>
          <a:p>
            <a:pPr indent="0" marL="0">
              <a:buNone/>
            </a:pPr>
            <a:r>
              <a:rPr lang="en-US" sz="1300" b="1" dirty="0">
                <a:solidFill>
                  <a:schemeClr val="tx1"/>
                </a:solidFill>
              </a:rPr>
              <a:t>Session 2</a:t>
            </a:r>
            <a:endParaRPr lang="en-US" sz="1300" dirty="0"/>
          </a:p>
        </p:txBody>
      </p:sp>
      <p:sp>
        <p:nvSpPr>
          <p:cNvPr id="8" name="lane-223"/>
          <p:cNvSpPr/>
          <p:nvPr/>
        </p:nvSpPr>
        <p:spPr>
          <a:xfrm>
            <a:off x="1645920" y="1645920"/>
            <a:ext cx="3017520" cy="457200"/>
          </a:xfrm>
          <a:prstGeom prst="roundRect">
            <a:avLst>
              <a:gd name="adj" fmla="val 16000"/>
            </a:avLst>
          </a:prstGeom>
          <a:solidFill>
            <a:schemeClr val="tx2"/>
          </a:solidFill>
          <a:ln w="12700">
            <a:solidFill>
              <a:schemeClr val="tx2"/>
            </a:solidFill>
            <a:prstDash val="solid"/>
          </a:ln>
        </p:spPr>
      </p:sp>
      <p:sp>
        <p:nvSpPr>
          <p:cNvPr id="9" name="text-224"/>
          <p:cNvSpPr txBox="1"/>
          <p:nvPr/>
        </p:nvSpPr>
        <p:spPr>
          <a:xfrm>
            <a:off x="1645920" y="1645920"/>
            <a:ext cx="3017520" cy="457200"/>
          </a:xfrm>
          <a:prstGeom prst="rect">
            <a:avLst/>
          </a:prstGeom>
          <a:noFill/>
          <a:ln/>
        </p:spPr>
        <p:txBody>
          <a:bodyPr wrap="square" lIns="0" tIns="0" rIns="0" bIns="0" rtlCol="0" anchor="ctr"/>
          <a:lstStyle/>
          <a:p>
            <a:pPr algn="ctr" indent="0" marL="0">
              <a:buNone/>
            </a:pPr>
            <a:r>
              <a:rPr lang="en-US" sz="1200" b="1" dirty="0">
                <a:solidFill>
                  <a:schemeClr val="bg1"/>
                </a:solidFill>
              </a:rPr>
              <a:t>authorise_entry()  holds the permit lock</a:t>
            </a:r>
            <a:endParaRPr lang="en-US" sz="1200" dirty="0"/>
          </a:p>
        </p:txBody>
      </p:sp>
      <p:sp>
        <p:nvSpPr>
          <p:cNvPr id="10" name="lane-225"/>
          <p:cNvSpPr/>
          <p:nvPr/>
        </p:nvSpPr>
        <p:spPr>
          <a:xfrm>
            <a:off x="4754880" y="1645920"/>
            <a:ext cx="1097280" cy="457200"/>
          </a:xfrm>
          <a:prstGeom prst="roundRect">
            <a:avLst>
              <a:gd name="adj" fmla="val 16000"/>
            </a:avLst>
          </a:prstGeom>
          <a:solidFill>
            <a:schemeClr val="accent3"/>
          </a:solidFill>
          <a:ln w="12700">
            <a:solidFill>
              <a:schemeClr val="accent3"/>
            </a:solidFill>
            <a:prstDash val="solid"/>
          </a:ln>
        </p:spPr>
      </p:sp>
      <p:sp>
        <p:nvSpPr>
          <p:cNvPr id="11" name="text-226"/>
          <p:cNvSpPr txBox="1"/>
          <p:nvPr/>
        </p:nvSpPr>
        <p:spPr>
          <a:xfrm>
            <a:off x="4754880" y="1645920"/>
            <a:ext cx="1097280" cy="457200"/>
          </a:xfrm>
          <a:prstGeom prst="rect">
            <a:avLst/>
          </a:prstGeom>
          <a:noFill/>
          <a:ln/>
        </p:spPr>
        <p:txBody>
          <a:bodyPr wrap="square" lIns="0" tIns="0" rIns="0" bIns="0" rtlCol="0" anchor="ctr"/>
          <a:lstStyle/>
          <a:p>
            <a:pPr algn="ctr" indent="0" marL="0">
              <a:buNone/>
            </a:pPr>
            <a:r>
              <a:rPr lang="en-US" sz="1200" b="1" dirty="0">
                <a:solidFill>
                  <a:schemeClr val="bg1"/>
                </a:solidFill>
              </a:rPr>
              <a:t>COMMIT</a:t>
            </a:r>
            <a:endParaRPr lang="en-US" sz="1200" dirty="0"/>
          </a:p>
        </p:txBody>
      </p:sp>
      <p:sp>
        <p:nvSpPr>
          <p:cNvPr id="12" name="lane-227"/>
          <p:cNvSpPr/>
          <p:nvPr/>
        </p:nvSpPr>
        <p:spPr>
          <a:xfrm>
            <a:off x="2377440" y="2286000"/>
            <a:ext cx="1371600" cy="457200"/>
          </a:xfrm>
          <a:prstGeom prst="roundRect">
            <a:avLst>
              <a:gd name="adj" fmla="val 16000"/>
            </a:avLst>
          </a:prstGeom>
          <a:solidFill>
            <a:schemeClr val="accent4"/>
          </a:solidFill>
          <a:ln w="12700">
            <a:solidFill>
              <a:schemeClr val="accent4"/>
            </a:solidFill>
            <a:prstDash val="solid"/>
          </a:ln>
        </p:spPr>
      </p:sp>
      <p:sp>
        <p:nvSpPr>
          <p:cNvPr id="13" name="text-228"/>
          <p:cNvSpPr txBox="1"/>
          <p:nvPr/>
        </p:nvSpPr>
        <p:spPr>
          <a:xfrm>
            <a:off x="2377440" y="2286000"/>
            <a:ext cx="1371600" cy="457200"/>
          </a:xfrm>
          <a:prstGeom prst="rect">
            <a:avLst/>
          </a:prstGeom>
          <a:noFill/>
          <a:ln/>
        </p:spPr>
        <p:txBody>
          <a:bodyPr wrap="square" lIns="0" tIns="0" rIns="0" bIns="0" rtlCol="0" anchor="ctr"/>
          <a:lstStyle/>
          <a:p>
            <a:pPr algn="ctr" indent="0" marL="0">
              <a:buNone/>
            </a:pPr>
            <a:r>
              <a:rPr lang="en-US" sz="1200" b="1" dirty="0">
                <a:solidFill>
                  <a:schemeClr val="bg1"/>
                </a:solidFill>
              </a:rPr>
              <a:t>DELETE standby</a:t>
            </a:r>
            <a:endParaRPr lang="en-US" sz="1200" dirty="0"/>
          </a:p>
        </p:txBody>
      </p:sp>
      <p:sp>
        <p:nvSpPr>
          <p:cNvPr id="14" name="lane-229"/>
          <p:cNvSpPr/>
          <p:nvPr/>
        </p:nvSpPr>
        <p:spPr>
          <a:xfrm>
            <a:off x="3840480" y="2286000"/>
            <a:ext cx="2011680" cy="457200"/>
          </a:xfrm>
          <a:prstGeom prst="roundRect">
            <a:avLst>
              <a:gd name="adj" fmla="val 16000"/>
            </a:avLst>
          </a:prstGeom>
          <a:solidFill>
            <a:schemeClr val="accent1"/>
          </a:solidFill>
          <a:ln w="12700">
            <a:solidFill>
              <a:schemeClr val="accent1"/>
            </a:solidFill>
            <a:prstDash val="solid"/>
          </a:ln>
        </p:spPr>
      </p:sp>
      <p:sp>
        <p:nvSpPr>
          <p:cNvPr id="15" name="text-230"/>
          <p:cNvSpPr txBox="1"/>
          <p:nvPr/>
        </p:nvSpPr>
        <p:spPr>
          <a:xfrm>
            <a:off x="3840480" y="2286000"/>
            <a:ext cx="2011680" cy="457200"/>
          </a:xfrm>
          <a:prstGeom prst="rect">
            <a:avLst/>
          </a:prstGeom>
          <a:noFill/>
          <a:ln/>
        </p:spPr>
        <p:txBody>
          <a:bodyPr wrap="square" lIns="0" tIns="0" rIns="0" bIns="0" rtlCol="0" anchor="ctr"/>
          <a:lstStyle/>
          <a:p>
            <a:pPr algn="ctr" indent="0" marL="0">
              <a:buNone/>
            </a:pPr>
            <a:r>
              <a:rPr lang="en-US" sz="1200" b="1" dirty="0">
                <a:solidFill>
                  <a:schemeClr val="tx1"/>
                </a:solidFill>
              </a:rPr>
              <a:t>waits for the lock</a:t>
            </a:r>
            <a:endParaRPr lang="en-US" sz="1200" dirty="0"/>
          </a:p>
        </p:txBody>
      </p:sp>
      <p:sp>
        <p:nvSpPr>
          <p:cNvPr id="16" name="lane-231"/>
          <p:cNvSpPr/>
          <p:nvPr/>
        </p:nvSpPr>
        <p:spPr>
          <a:xfrm>
            <a:off x="5943600" y="2286000"/>
            <a:ext cx="2743200" cy="457200"/>
          </a:xfrm>
          <a:prstGeom prst="roundRect">
            <a:avLst>
              <a:gd name="adj" fmla="val 16000"/>
            </a:avLst>
          </a:prstGeom>
          <a:solidFill>
            <a:schemeClr val="accent2"/>
          </a:solidFill>
          <a:ln w="12700">
            <a:solidFill>
              <a:schemeClr val="accent2"/>
            </a:solidFill>
            <a:prstDash val="solid"/>
          </a:ln>
        </p:spPr>
      </p:sp>
      <p:sp>
        <p:nvSpPr>
          <p:cNvPr id="17" name="text-232"/>
          <p:cNvSpPr txBox="1"/>
          <p:nvPr/>
        </p:nvSpPr>
        <p:spPr>
          <a:xfrm>
            <a:off x="5943600" y="2286000"/>
            <a:ext cx="2743200" cy="457200"/>
          </a:xfrm>
          <a:prstGeom prst="rect">
            <a:avLst/>
          </a:prstGeom>
          <a:noFill/>
          <a:ln/>
        </p:spPr>
        <p:txBody>
          <a:bodyPr wrap="square" lIns="0" tIns="0" rIns="0" bIns="0" rtlCol="0" anchor="ctr"/>
          <a:lstStyle/>
          <a:p>
            <a:pPr algn="ctr" indent="0" marL="0">
              <a:buNone/>
            </a:pPr>
            <a:r>
              <a:rPr lang="en-US" sz="1200" b="1" dirty="0">
                <a:solidFill>
                  <a:schemeClr val="bg1"/>
                </a:solidFill>
              </a:rPr>
              <a:t>re-reads: AUTHORISED -&gt; ZE003</a:t>
            </a:r>
            <a:endParaRPr lang="en-US" sz="1200" dirty="0"/>
          </a:p>
        </p:txBody>
      </p:sp>
      <p:sp>
        <p:nvSpPr>
          <p:cNvPr id="18" name="text-233"/>
          <p:cNvSpPr txBox="1"/>
          <p:nvPr/>
        </p:nvSpPr>
        <p:spPr>
          <a:xfrm>
            <a:off x="457200" y="2880360"/>
            <a:ext cx="8229600" cy="457200"/>
          </a:xfrm>
          <a:prstGeom prst="rect">
            <a:avLst/>
          </a:prstGeom>
          <a:noFill/>
          <a:ln/>
        </p:spPr>
        <p:txBody>
          <a:bodyPr wrap="square" lIns="0" tIns="0" rIns="0" bIns="0" rtlCol="0" anchor="t"/>
          <a:lstStyle/>
          <a:p>
            <a:pPr indent="0" marL="0">
              <a:buNone/>
            </a:pPr>
            <a:r>
              <a:rPr lang="en-US" sz="1300" dirty="0">
                <a:solidFill>
                  <a:schemeClr val="tx2"/>
                </a:solidFill>
              </a:rPr>
              <a:t>Result: permit AUTHORISED with its standby still on the crew. Before migration 0010 both commits went through, leaving an AUTHORISED permit with no standby.</a:t>
            </a:r>
            <a:endParaRPr lang="en-US" sz="1300" dirty="0"/>
          </a:p>
        </p:txBody>
      </p:sp>
      <p:sp>
        <p:nvSpPr>
          <p:cNvPr id="19" name="badge-234"/>
          <p:cNvSpPr/>
          <p:nvPr/>
        </p:nvSpPr>
        <p:spPr>
          <a:xfrm>
            <a:off x="457200" y="3520440"/>
            <a:ext cx="384048" cy="384048"/>
          </a:xfrm>
          <a:prstGeom prst="ellipse">
            <a:avLst/>
          </a:prstGeom>
          <a:solidFill>
            <a:schemeClr val="accent1"/>
          </a:solidFill>
          <a:ln w="12700">
            <a:solidFill>
              <a:schemeClr val="accent1"/>
            </a:solidFill>
            <a:prstDash val="solid"/>
          </a:ln>
        </p:spPr>
      </p:sp>
      <p:sp>
        <p:nvSpPr>
          <p:cNvPr id="20" name="badge-num-235"/>
          <p:cNvSpPr txBox="1"/>
          <p:nvPr/>
        </p:nvSpPr>
        <p:spPr>
          <a:xfrm>
            <a:off x="457200" y="352044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17</a:t>
            </a:r>
            <a:endParaRPr lang="en-US" sz="1300" dirty="0"/>
          </a:p>
        </p:txBody>
      </p:sp>
      <p:sp>
        <p:nvSpPr>
          <p:cNvPr id="21" name="text-236"/>
          <p:cNvSpPr txBox="1"/>
          <p:nvPr/>
        </p:nvSpPr>
        <p:spPr>
          <a:xfrm>
            <a:off x="960120" y="3520440"/>
            <a:ext cx="4572000" cy="411480"/>
          </a:xfrm>
          <a:prstGeom prst="rect">
            <a:avLst/>
          </a:prstGeom>
          <a:noFill/>
          <a:ln/>
        </p:spPr>
        <p:txBody>
          <a:bodyPr wrap="square" lIns="0" tIns="0" rIns="0" bIns="0" rtlCol="0" anchor="ctr"/>
          <a:lstStyle/>
          <a:p>
            <a:pPr indent="0" marL="0">
              <a:buNone/>
            </a:pPr>
            <a:r>
              <a:rPr lang="en-US" sz="1500" b="1" dirty="0">
                <a:solidFill>
                  <a:schemeClr val="tx1"/>
                </a:solidFill>
              </a:rPr>
              <a:t>Two clerks pay the same INR 20 lakh balance at once</a:t>
            </a:r>
            <a:endParaRPr lang="en-US" sz="1500" dirty="0"/>
          </a:p>
        </p:txBody>
      </p:sp>
      <p:sp>
        <p:nvSpPr>
          <p:cNvPr id="22" name="text-237"/>
          <p:cNvSpPr txBox="1"/>
          <p:nvPr/>
        </p:nvSpPr>
        <p:spPr>
          <a:xfrm>
            <a:off x="960120" y="3931920"/>
            <a:ext cx="5486400" cy="548640"/>
          </a:xfrm>
          <a:prstGeom prst="rect">
            <a:avLst/>
          </a:prstGeom>
          <a:noFill/>
          <a:ln/>
        </p:spPr>
        <p:txBody>
          <a:bodyPr wrap="square" lIns="0" tIns="0" rIns="0" bIns="0" rtlCol="0" anchor="t"/>
          <a:lstStyle/>
          <a:p>
            <a:pPr indent="0" marL="0">
              <a:buNone/>
            </a:pPr>
            <a:r>
              <a:rPr lang="en-US" sz="1300" dirty="0">
                <a:solidFill>
                  <a:schemeClr val="tx2"/>
                </a:solidFill>
              </a:rPr>
              <a:t>Clerk 2 waits on the row lock, then: 'would exceed the amount due'. Paid 30 of 30 lakh, never more.</a:t>
            </a:r>
            <a:endParaRPr lang="en-US" sz="1300" dirty="0"/>
          </a:p>
        </p:txBody>
      </p:sp>
      <p:sp>
        <p:nvSpPr>
          <p:cNvPr id="23" name="pill-238"/>
          <p:cNvSpPr/>
          <p:nvPr/>
        </p:nvSpPr>
        <p:spPr>
          <a:xfrm>
            <a:off x="6766560" y="3657600"/>
            <a:ext cx="1920240" cy="292608"/>
          </a:xfrm>
          <a:prstGeom prst="roundRect">
            <a:avLst>
              <a:gd name="adj" fmla="val 50000"/>
            </a:avLst>
          </a:prstGeom>
          <a:solidFill>
            <a:schemeClr val="accent2"/>
          </a:solidFill>
          <a:ln w="12700">
            <a:solidFill>
              <a:schemeClr val="accent2"/>
            </a:solidFill>
            <a:prstDash val="solid"/>
          </a:ln>
        </p:spPr>
      </p:sp>
      <p:sp>
        <p:nvSpPr>
          <p:cNvPr id="24" name="pill-text-239"/>
          <p:cNvSpPr txBox="1"/>
          <p:nvPr/>
        </p:nvSpPr>
        <p:spPr>
          <a:xfrm>
            <a:off x="6766560" y="3657600"/>
            <a:ext cx="1920240" cy="292608"/>
          </a:xfrm>
          <a:prstGeom prst="rect">
            <a:avLst/>
          </a:prstGeom>
          <a:noFill/>
          <a:ln/>
        </p:spPr>
        <p:txBody>
          <a:bodyPr wrap="square" lIns="0" tIns="0" rIns="0" bIns="0" rtlCol="0" anchor="ctr"/>
          <a:lstStyle/>
          <a:p>
            <a:pPr algn="ctr" indent="0" marL="0">
              <a:buNone/>
            </a:pPr>
            <a:r>
              <a:rPr lang="en-US" sz="1100" b="1" dirty="0">
                <a:solidFill>
                  <a:schemeClr val="bg1"/>
                </a:solidFill>
              </a:rPr>
              <a:t>REFUSED  ZE002</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Same query, different rows; the app role owns nothing</a:t>
            </a:r>
            <a:endParaRPr lang="en-US" sz="2600" dirty="0"/>
          </a:p>
        </p:txBody>
      </p:sp>
      <p:sp>
        <p:nvSpPr>
          <p:cNvPr id="3" name="badge-240"/>
          <p:cNvSpPr/>
          <p:nvPr/>
        </p:nvSpPr>
        <p:spPr>
          <a:xfrm>
            <a:off x="457200" y="1051560"/>
            <a:ext cx="384048" cy="384048"/>
          </a:xfrm>
          <a:prstGeom prst="ellipse">
            <a:avLst/>
          </a:prstGeom>
          <a:solidFill>
            <a:schemeClr val="accent1"/>
          </a:solidFill>
          <a:ln w="12700">
            <a:solidFill>
              <a:schemeClr val="accent1"/>
            </a:solidFill>
            <a:prstDash val="solid"/>
          </a:ln>
        </p:spPr>
      </p:sp>
      <p:sp>
        <p:nvSpPr>
          <p:cNvPr id="4" name="badge-num-241"/>
          <p:cNvSpPr txBox="1"/>
          <p:nvPr/>
        </p:nvSpPr>
        <p:spPr>
          <a:xfrm>
            <a:off x="457200" y="105156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18</a:t>
            </a:r>
            <a:endParaRPr lang="en-US" sz="1300" dirty="0"/>
          </a:p>
        </p:txBody>
      </p:sp>
      <p:sp>
        <p:nvSpPr>
          <p:cNvPr id="5" name="text-242"/>
          <p:cNvSpPr txBox="1"/>
          <p:nvPr/>
        </p:nvSpPr>
        <p:spPr>
          <a:xfrm>
            <a:off x="960120" y="1051560"/>
            <a:ext cx="3657600" cy="411480"/>
          </a:xfrm>
          <a:prstGeom prst="rect">
            <a:avLst/>
          </a:prstGeom>
          <a:noFill/>
          <a:ln/>
        </p:spPr>
        <p:txBody>
          <a:bodyPr wrap="square" lIns="0" tIns="0" rIns="0" bIns="0" rtlCol="0" anchor="ctr"/>
          <a:lstStyle/>
          <a:p>
            <a:pPr indent="0" marL="0">
              <a:buNone/>
            </a:pPr>
            <a:r>
              <a:rPr lang="en-US" sz="1400" b="1" dirty="0">
                <a:solidFill>
                  <a:schemeClr val="tx1"/>
                </a:solidFill>
              </a:rPr>
              <a:t>count(*) FROM entry_permit, per user</a:t>
            </a:r>
            <a:endParaRPr lang="en-US" sz="1400" dirty="0"/>
          </a:p>
        </p:txBody>
      </p:sp>
      <p:graphicFrame>
        <p:nvGraphicFramePr>
          <p:cNvPr id="6" name="rls-chart" descr=""/>
          <p:cNvGraphicFramePr/>
          <p:nvPr/>
        </p:nvGraphicFramePr>
        <p:xfrm>
          <a:off x="457200" y="1554480"/>
          <a:ext cx="4114800" cy="3017520"/>
        </p:xfrm>
        <a:graphic xmlns:a="http://schemas.openxmlformats.org/drawingml/2006/main">
          <a:graphicData uri="http://schemas.openxmlformats.org/drawingml/2006/chart">
            <c:chart xmlns:c="http://schemas.openxmlformats.org/drawingml/2006/chart" r:id="rId1"/>
          </a:graphicData>
        </a:graphic>
      </p:graphicFrame>
      <p:sp>
        <p:nvSpPr>
          <p:cNvPr id="7" name="badge-243"/>
          <p:cNvSpPr/>
          <p:nvPr/>
        </p:nvSpPr>
        <p:spPr>
          <a:xfrm>
            <a:off x="4846320" y="1051560"/>
            <a:ext cx="384048" cy="384048"/>
          </a:xfrm>
          <a:prstGeom prst="ellipse">
            <a:avLst/>
          </a:prstGeom>
          <a:solidFill>
            <a:schemeClr val="accent1"/>
          </a:solidFill>
          <a:ln w="12700">
            <a:solidFill>
              <a:schemeClr val="accent1"/>
            </a:solidFill>
            <a:prstDash val="solid"/>
          </a:ln>
        </p:spPr>
      </p:sp>
      <p:sp>
        <p:nvSpPr>
          <p:cNvPr id="8" name="badge-num-244"/>
          <p:cNvSpPr txBox="1"/>
          <p:nvPr/>
        </p:nvSpPr>
        <p:spPr>
          <a:xfrm>
            <a:off x="4846320" y="105156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19</a:t>
            </a:r>
            <a:endParaRPr lang="en-US" sz="1300" dirty="0"/>
          </a:p>
        </p:txBody>
      </p:sp>
      <p:sp>
        <p:nvSpPr>
          <p:cNvPr id="9" name="text-245"/>
          <p:cNvSpPr txBox="1"/>
          <p:nvPr/>
        </p:nvSpPr>
        <p:spPr>
          <a:xfrm>
            <a:off x="5349240" y="1051560"/>
            <a:ext cx="3337560" cy="411480"/>
          </a:xfrm>
          <a:prstGeom prst="rect">
            <a:avLst/>
          </a:prstGeom>
          <a:noFill/>
          <a:ln/>
        </p:spPr>
        <p:txBody>
          <a:bodyPr wrap="square" lIns="0" tIns="0" rIns="0" bIns="0" rtlCol="0" anchor="ctr"/>
          <a:lstStyle/>
          <a:p>
            <a:pPr indent="0" marL="0">
              <a:buNone/>
            </a:pPr>
            <a:r>
              <a:rPr lang="en-US" sz="1400" b="1" dirty="0">
                <a:solidFill>
                  <a:schemeClr val="tx1"/>
                </a:solidFill>
              </a:rPr>
              <a:t>As ze_app, the API's own database role</a:t>
            </a:r>
            <a:endParaRPr lang="en-US" sz="1400" dirty="0"/>
          </a:p>
        </p:txBody>
      </p:sp>
      <p:sp>
        <p:nvSpPr>
          <p:cNvPr id="10" name="card-246"/>
          <p:cNvSpPr/>
          <p:nvPr/>
        </p:nvSpPr>
        <p:spPr>
          <a:xfrm>
            <a:off x="4846320" y="1691640"/>
            <a:ext cx="3840480" cy="438912"/>
          </a:xfrm>
          <a:prstGeom prst="roundRect">
            <a:avLst>
              <a:gd name="adj" fmla="val 16667"/>
            </a:avLst>
          </a:prstGeom>
          <a:solidFill>
            <a:schemeClr val="bg2"/>
          </a:solidFill>
          <a:ln w="12700">
            <a:solidFill>
              <a:schemeClr val="bg2"/>
            </a:solidFill>
            <a:prstDash val="solid"/>
          </a:ln>
        </p:spPr>
      </p:sp>
      <p:sp>
        <p:nvSpPr>
          <p:cNvPr id="11" name="text-247"/>
          <p:cNvSpPr txBox="1"/>
          <p:nvPr/>
        </p:nvSpPr>
        <p:spPr>
          <a:xfrm>
            <a:off x="5029200" y="1691640"/>
            <a:ext cx="2103120" cy="438912"/>
          </a:xfrm>
          <a:prstGeom prst="rect">
            <a:avLst/>
          </a:prstGeom>
          <a:noFill/>
          <a:ln/>
        </p:spPr>
        <p:txBody>
          <a:bodyPr wrap="square" lIns="0" tIns="0" rIns="0" bIns="0" rtlCol="0" anchor="ctr"/>
          <a:lstStyle/>
          <a:p>
            <a:pPr indent="0" marL="0">
              <a:buNone/>
            </a:pPr>
            <a:r>
              <a:rPr lang="en-US" sz="1300" dirty="0">
                <a:solidFill>
                  <a:schemeClr val="tx1"/>
                </a:solidFill>
              </a:rPr>
              <a:t>Edit a gas reading</a:t>
            </a:r>
            <a:endParaRPr lang="en-US" sz="1300" dirty="0"/>
          </a:p>
        </p:txBody>
      </p:sp>
      <p:sp>
        <p:nvSpPr>
          <p:cNvPr id="12" name="pill-248"/>
          <p:cNvSpPr/>
          <p:nvPr/>
        </p:nvSpPr>
        <p:spPr>
          <a:xfrm>
            <a:off x="6949440" y="1764792"/>
            <a:ext cx="1554480" cy="292608"/>
          </a:xfrm>
          <a:prstGeom prst="roundRect">
            <a:avLst>
              <a:gd name="adj" fmla="val 50000"/>
            </a:avLst>
          </a:prstGeom>
          <a:solidFill>
            <a:schemeClr val="accent2"/>
          </a:solidFill>
          <a:ln w="12700">
            <a:solidFill>
              <a:schemeClr val="accent2"/>
            </a:solidFill>
            <a:prstDash val="solid"/>
          </a:ln>
        </p:spPr>
      </p:sp>
      <p:sp>
        <p:nvSpPr>
          <p:cNvPr id="13" name="pill-text-249"/>
          <p:cNvSpPr txBox="1"/>
          <p:nvPr/>
        </p:nvSpPr>
        <p:spPr>
          <a:xfrm>
            <a:off x="6949440" y="1764792"/>
            <a:ext cx="1554480" cy="292608"/>
          </a:xfrm>
          <a:prstGeom prst="rect">
            <a:avLst/>
          </a:prstGeom>
          <a:noFill/>
          <a:ln/>
        </p:spPr>
        <p:txBody>
          <a:bodyPr wrap="square" lIns="0" tIns="0" rIns="0" bIns="0" rtlCol="0" anchor="ctr"/>
          <a:lstStyle/>
          <a:p>
            <a:pPr algn="ctr" indent="0" marL="0">
              <a:buNone/>
            </a:pPr>
            <a:r>
              <a:rPr lang="en-US" sz="1100" b="1" dirty="0">
                <a:solidFill>
                  <a:schemeClr val="bg1"/>
                </a:solidFill>
              </a:rPr>
              <a:t>REFUSED  42501</a:t>
            </a:r>
            <a:endParaRPr lang="en-US" sz="1100" dirty="0"/>
          </a:p>
        </p:txBody>
      </p:sp>
      <p:sp>
        <p:nvSpPr>
          <p:cNvPr id="14" name="card-250"/>
          <p:cNvSpPr/>
          <p:nvPr/>
        </p:nvSpPr>
        <p:spPr>
          <a:xfrm>
            <a:off x="4846320" y="2240280"/>
            <a:ext cx="3840480" cy="438912"/>
          </a:xfrm>
          <a:prstGeom prst="roundRect">
            <a:avLst>
              <a:gd name="adj" fmla="val 16667"/>
            </a:avLst>
          </a:prstGeom>
          <a:solidFill>
            <a:schemeClr val="bg2"/>
          </a:solidFill>
          <a:ln w="12700">
            <a:solidFill>
              <a:schemeClr val="bg2"/>
            </a:solidFill>
            <a:prstDash val="solid"/>
          </a:ln>
        </p:spPr>
      </p:sp>
      <p:sp>
        <p:nvSpPr>
          <p:cNvPr id="15" name="text-251"/>
          <p:cNvSpPr txBox="1"/>
          <p:nvPr/>
        </p:nvSpPr>
        <p:spPr>
          <a:xfrm>
            <a:off x="5029200" y="2240280"/>
            <a:ext cx="2103120" cy="438912"/>
          </a:xfrm>
          <a:prstGeom prst="rect">
            <a:avLst/>
          </a:prstGeom>
          <a:noFill/>
          <a:ln/>
        </p:spPr>
        <p:txBody>
          <a:bodyPr wrap="square" lIns="0" tIns="0" rIns="0" bIns="0" rtlCol="0" anchor="ctr"/>
          <a:lstStyle/>
          <a:p>
            <a:pPr indent="0" marL="0">
              <a:buNone/>
            </a:pPr>
            <a:r>
              <a:rPr lang="en-US" sz="1300" dirty="0">
                <a:solidFill>
                  <a:schemeClr val="tx1"/>
                </a:solidFill>
              </a:rPr>
              <a:t>Drop a table</a:t>
            </a:r>
            <a:endParaRPr lang="en-US" sz="1300" dirty="0"/>
          </a:p>
        </p:txBody>
      </p:sp>
      <p:sp>
        <p:nvSpPr>
          <p:cNvPr id="16" name="pill-252"/>
          <p:cNvSpPr/>
          <p:nvPr/>
        </p:nvSpPr>
        <p:spPr>
          <a:xfrm>
            <a:off x="6949440" y="2313432"/>
            <a:ext cx="1554480" cy="292608"/>
          </a:xfrm>
          <a:prstGeom prst="roundRect">
            <a:avLst>
              <a:gd name="adj" fmla="val 50000"/>
            </a:avLst>
          </a:prstGeom>
          <a:solidFill>
            <a:schemeClr val="accent2"/>
          </a:solidFill>
          <a:ln w="12700">
            <a:solidFill>
              <a:schemeClr val="accent2"/>
            </a:solidFill>
            <a:prstDash val="solid"/>
          </a:ln>
        </p:spPr>
      </p:sp>
      <p:sp>
        <p:nvSpPr>
          <p:cNvPr id="17" name="pill-text-253"/>
          <p:cNvSpPr txBox="1"/>
          <p:nvPr/>
        </p:nvSpPr>
        <p:spPr>
          <a:xfrm>
            <a:off x="6949440" y="2313432"/>
            <a:ext cx="1554480" cy="292608"/>
          </a:xfrm>
          <a:prstGeom prst="rect">
            <a:avLst/>
          </a:prstGeom>
          <a:noFill/>
          <a:ln/>
        </p:spPr>
        <p:txBody>
          <a:bodyPr wrap="square" lIns="0" tIns="0" rIns="0" bIns="0" rtlCol="0" anchor="ctr"/>
          <a:lstStyle/>
          <a:p>
            <a:pPr algn="ctr" indent="0" marL="0">
              <a:buNone/>
            </a:pPr>
            <a:r>
              <a:rPr lang="en-US" sz="1100" b="1" dirty="0">
                <a:solidFill>
                  <a:schemeClr val="bg1"/>
                </a:solidFill>
              </a:rPr>
              <a:t>REFUSED  42501</a:t>
            </a:r>
            <a:endParaRPr lang="en-US" sz="1100" dirty="0"/>
          </a:p>
        </p:txBody>
      </p:sp>
      <p:sp>
        <p:nvSpPr>
          <p:cNvPr id="18" name="card-254"/>
          <p:cNvSpPr/>
          <p:nvPr/>
        </p:nvSpPr>
        <p:spPr>
          <a:xfrm>
            <a:off x="4846320" y="2788920"/>
            <a:ext cx="3840480" cy="438912"/>
          </a:xfrm>
          <a:prstGeom prst="roundRect">
            <a:avLst>
              <a:gd name="adj" fmla="val 16667"/>
            </a:avLst>
          </a:prstGeom>
          <a:solidFill>
            <a:schemeClr val="bg2"/>
          </a:solidFill>
          <a:ln w="12700">
            <a:solidFill>
              <a:schemeClr val="bg2"/>
            </a:solidFill>
            <a:prstDash val="solid"/>
          </a:ln>
        </p:spPr>
      </p:sp>
      <p:sp>
        <p:nvSpPr>
          <p:cNvPr id="19" name="text-255"/>
          <p:cNvSpPr txBox="1"/>
          <p:nvPr/>
        </p:nvSpPr>
        <p:spPr>
          <a:xfrm>
            <a:off x="5029200" y="2788920"/>
            <a:ext cx="2103120" cy="438912"/>
          </a:xfrm>
          <a:prstGeom prst="rect">
            <a:avLst/>
          </a:prstGeom>
          <a:noFill/>
          <a:ln/>
        </p:spPr>
        <p:txBody>
          <a:bodyPr wrap="square" lIns="0" tIns="0" rIns="0" bIns="0" rtlCol="0" anchor="ctr"/>
          <a:lstStyle/>
          <a:p>
            <a:pPr indent="0" marL="0">
              <a:buNone/>
            </a:pPr>
            <a:r>
              <a:rPr lang="en-US" sz="1300" dirty="0">
                <a:solidFill>
                  <a:schemeClr val="tx1"/>
                </a:solidFill>
              </a:rPr>
              <a:t>Create a new role row</a:t>
            </a:r>
            <a:endParaRPr lang="en-US" sz="1300" dirty="0"/>
          </a:p>
        </p:txBody>
      </p:sp>
      <p:sp>
        <p:nvSpPr>
          <p:cNvPr id="20" name="pill-256"/>
          <p:cNvSpPr/>
          <p:nvPr/>
        </p:nvSpPr>
        <p:spPr>
          <a:xfrm>
            <a:off x="6949440" y="2862072"/>
            <a:ext cx="1554480" cy="292608"/>
          </a:xfrm>
          <a:prstGeom prst="roundRect">
            <a:avLst>
              <a:gd name="adj" fmla="val 50000"/>
            </a:avLst>
          </a:prstGeom>
          <a:solidFill>
            <a:schemeClr val="accent2"/>
          </a:solidFill>
          <a:ln w="12700">
            <a:solidFill>
              <a:schemeClr val="accent2"/>
            </a:solidFill>
            <a:prstDash val="solid"/>
          </a:ln>
        </p:spPr>
      </p:sp>
      <p:sp>
        <p:nvSpPr>
          <p:cNvPr id="21" name="pill-text-257"/>
          <p:cNvSpPr txBox="1"/>
          <p:nvPr/>
        </p:nvSpPr>
        <p:spPr>
          <a:xfrm>
            <a:off x="6949440" y="2862072"/>
            <a:ext cx="1554480" cy="292608"/>
          </a:xfrm>
          <a:prstGeom prst="rect">
            <a:avLst/>
          </a:prstGeom>
          <a:noFill/>
          <a:ln/>
        </p:spPr>
        <p:txBody>
          <a:bodyPr wrap="square" lIns="0" tIns="0" rIns="0" bIns="0" rtlCol="0" anchor="ctr"/>
          <a:lstStyle/>
          <a:p>
            <a:pPr algn="ctr" indent="0" marL="0">
              <a:buNone/>
            </a:pPr>
            <a:r>
              <a:rPr lang="en-US" sz="1100" b="1" dirty="0">
                <a:solidFill>
                  <a:schemeClr val="bg1"/>
                </a:solidFill>
              </a:rPr>
              <a:t>REFUSED  42501</a:t>
            </a:r>
            <a:endParaRPr lang="en-US" sz="1100" dirty="0"/>
          </a:p>
        </p:txBody>
      </p:sp>
      <p:sp>
        <p:nvSpPr>
          <p:cNvPr id="22" name="text-258"/>
          <p:cNvSpPr txBox="1"/>
          <p:nvPr/>
        </p:nvSpPr>
        <p:spPr>
          <a:xfrm>
            <a:off x="4846320" y="3429000"/>
            <a:ext cx="3840480" cy="1097280"/>
          </a:xfrm>
          <a:prstGeom prst="rect">
            <a:avLst/>
          </a:prstGeom>
          <a:noFill/>
          <a:ln/>
        </p:spPr>
        <p:txBody>
          <a:bodyPr wrap="square" lIns="0" tIns="0" rIns="0" bIns="0" rtlCol="0" anchor="t"/>
          <a:lstStyle/>
          <a:p>
            <a:pPr indent="0" marL="0">
              <a:buNone/>
            </a:pPr>
            <a:r>
              <a:rPr lang="en-US" sz="1300" dirty="0">
                <a:solidFill>
                  <a:schemeClr val="tx2"/>
                </a:solidFill>
              </a:rPr>
              <a:t>Row-level security is set per transaction, so it cannot leak between requests. Even a bug in the API cannot rewrite evidence or change the schema.</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All 19 reactions at a glance</a:t>
            </a:r>
            <a:endParaRPr lang="en-US" sz="2600" dirty="0"/>
          </a:p>
        </p:txBody>
      </p:sp>
      <p:graphicFrame>
        <p:nvGraphicFramePr>
          <p:cNvPr id="14" name="summary-1"/>
          <p:cNvGraphicFramePr>
            <a:graphicFrameLocks noGrp="1"/>
          </p:cNvGraphicFramePr>
          <p:nvPr>
            <p:extLst>
              <p:ext uri="{D42A27DB-BD31-4B8C-83A1-F6EECF244321}">
                <p14:modId xmlns:p14="http://schemas.microsoft.com/office/powerpoint/2010/main" val="1579011935"/>
              </p:ext>
            </p:extLst>
          </p:nvPr>
        </p:nvGraphicFramePr>
        <p:xfrm>
          <a:off x="457200" y="1051560"/>
          <a:ext cx="4023360" cy="914400"/>
        </p:xfrm>
        <a:graphic>
          <a:graphicData uri="http://schemas.openxmlformats.org/drawingml/2006/table">
            <a:tbl>
              <a:tblPr/>
              <a:tblGrid>
                <a:gridCol w="365760"/>
                <a:gridCol w="2423160"/>
                <a:gridCol w="1234440"/>
              </a:tblGrid>
              <a:tr h="310896">
                <a:tc>
                  <a:txBody>
                    <a:bodyPr/>
                    <a:lstStyle/>
                    <a:p>
                      <a:pPr indent="0" marL="0">
                        <a:buNone/>
                      </a:pPr>
                      <a:r>
                        <a:rPr lang="en-US" sz="1100" b="1" dirty="0">
                          <a:solidFill>
                            <a:schemeClr val="bg1"/>
                          </a:solidFill>
                        </a:rPr>
                        <a:t>#</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Situation</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Reaction</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solidFill>
                      <a:schemeClr val="tx2"/>
                    </a:solidFill>
                  </a:tcPr>
                </a:tc>
              </a:tr>
              <a:tr h="310896">
                <a:tc>
                  <a:txBody>
                    <a:bodyPr/>
                    <a:lstStyle/>
                    <a:p>
                      <a:pPr algn="ctr" indent="0" marL="0">
                        <a:buNone/>
                      </a:pPr>
                      <a:r>
                        <a:rPr lang="en-US" sz="1100" b="1" dirty="0">
                          <a:solidFill>
                            <a:schemeClr val="tx1"/>
                          </a:solidFill>
                        </a:rPr>
                        <a:t>01</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dirty="0">
                          <a:solidFill>
                            <a:schemeClr val="tx1"/>
                          </a:solidFill>
                        </a:rPr>
                        <a:t>Incomplete permit authorised</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b="1" dirty="0">
                          <a:solidFill>
                            <a:schemeClr val="accent2"/>
                          </a:solidFill>
                        </a:rPr>
                        <a:t>DENIED</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r>
              <a:tr h="310896">
                <a:tc>
                  <a:txBody>
                    <a:bodyPr/>
                    <a:lstStyle/>
                    <a:p>
                      <a:pPr algn="ctr" indent="0" marL="0">
                        <a:buNone/>
                      </a:pPr>
                      <a:r>
                        <a:rPr lang="en-US" sz="1100" b="1" dirty="0">
                          <a:solidFill>
                            <a:schemeClr val="tx1"/>
                          </a:solidFill>
                        </a:rPr>
                        <a:t>02</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dirty="0">
                          <a:solidFill>
                            <a:schemeClr val="tx1"/>
                          </a:solidFill>
                        </a:rPr>
                        <a:t>Raw UPDATE bypass</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b="1" dirty="0">
                          <a:solidFill>
                            <a:schemeClr val="accent2"/>
                          </a:solidFill>
                        </a:rPr>
                        <a:t>ZE001</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r>
              <a:tr h="310896">
                <a:tc>
                  <a:txBody>
                    <a:bodyPr/>
                    <a:lstStyle/>
                    <a:p>
                      <a:pPr algn="ctr" indent="0" marL="0">
                        <a:buNone/>
                      </a:pPr>
                      <a:r>
                        <a:rPr lang="en-US" sz="1100" b="1" dirty="0">
                          <a:solidFill>
                            <a:schemeClr val="tx1"/>
                          </a:solidFill>
                        </a:rPr>
                        <a:t>03</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dirty="0">
                          <a:solidFill>
                            <a:schemeClr val="tx1"/>
                          </a:solidFill>
                        </a:rPr>
                        <a:t>Evidence completed</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b="1" dirty="0">
                          <a:solidFill>
                            <a:schemeClr val="accent3"/>
                          </a:solidFill>
                        </a:rPr>
                        <a:t>AUTHORISED</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r>
              <a:tr h="310896">
                <a:tc>
                  <a:txBody>
                    <a:bodyPr/>
                    <a:lstStyle/>
                    <a:p>
                      <a:pPr algn="ctr" indent="0" marL="0">
                        <a:buNone/>
                      </a:pPr>
                      <a:r>
                        <a:rPr lang="en-US" sz="1100" b="1" dirty="0">
                          <a:solidFill>
                            <a:schemeClr val="tx1"/>
                          </a:solidFill>
                        </a:rPr>
                        <a:t>04</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dirty="0">
                          <a:solidFill>
                            <a:schemeClr val="tx1"/>
                          </a:solidFill>
                        </a:rPr>
                        <a:t>Expired detector reading</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b="1" dirty="0">
                          <a:solidFill>
                            <a:schemeClr val="accent2"/>
                          </a:solidFill>
                        </a:rPr>
                        <a:t>ZE002</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r>
              <a:tr h="310896">
                <a:tc>
                  <a:txBody>
                    <a:bodyPr/>
                    <a:lstStyle/>
                    <a:p>
                      <a:pPr algn="ctr" indent="0" marL="0">
                        <a:buNone/>
                      </a:pPr>
                      <a:r>
                        <a:rPr lang="en-US" sz="1100" b="1" dirty="0">
                          <a:solidFill>
                            <a:schemeClr val="tx1"/>
                          </a:solidFill>
                        </a:rPr>
                        <a:t>05</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dirty="0">
                          <a:solidFill>
                            <a:schemeClr val="tx1"/>
                          </a:solidFill>
                        </a:rPr>
                        <a:t>Crew change after authorisation</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b="1" dirty="0">
                          <a:solidFill>
                            <a:schemeClr val="accent2"/>
                          </a:solidFill>
                        </a:rPr>
                        <a:t>ZE003</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r>
              <a:tr h="310896">
                <a:tc>
                  <a:txBody>
                    <a:bodyPr/>
                    <a:lstStyle/>
                    <a:p>
                      <a:pPr algn="ctr" indent="0" marL="0">
                        <a:buNone/>
                      </a:pPr>
                      <a:r>
                        <a:rPr lang="en-US" sz="1100" b="1" dirty="0">
                          <a:solidFill>
                            <a:schemeClr val="tx1"/>
                          </a:solidFill>
                        </a:rPr>
                        <a:t>06</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dirty="0">
                          <a:solidFill>
                            <a:schemeClr val="tx1"/>
                          </a:solidFill>
                        </a:rPr>
                        <a:t>Overlapping entries</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b="1" dirty="0">
                          <a:solidFill>
                            <a:schemeClr val="accent2"/>
                          </a:solidFill>
                        </a:rPr>
                        <a:t>23P01</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r>
              <a:tr h="310896">
                <a:tc>
                  <a:txBody>
                    <a:bodyPr/>
                    <a:lstStyle/>
                    <a:p>
                      <a:pPr algn="ctr" indent="0" marL="0">
                        <a:buNone/>
                      </a:pPr>
                      <a:r>
                        <a:rPr lang="en-US" sz="1100" b="1" dirty="0">
                          <a:solidFill>
                            <a:schemeClr val="tx1"/>
                          </a:solidFill>
                        </a:rPr>
                        <a:t>07</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dirty="0">
                          <a:solidFill>
                            <a:schemeClr val="tx1"/>
                          </a:solidFill>
                        </a:rPr>
                        <a:t>Standby enters</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b="1" dirty="0">
                          <a:solidFill>
                            <a:schemeClr val="accent2"/>
                          </a:solidFill>
                        </a:rPr>
                        <a:t>ZE002</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r>
              <a:tr h="310896">
                <a:tc>
                  <a:txBody>
                    <a:bodyPr/>
                    <a:lstStyle/>
                    <a:p>
                      <a:pPr algn="ctr" indent="0" marL="0">
                        <a:buNone/>
                      </a:pPr>
                      <a:r>
                        <a:rPr lang="en-US" sz="1100" b="1" dirty="0">
                          <a:solidFill>
                            <a:schemeClr val="tx1"/>
                          </a:solidFill>
                        </a:rPr>
                        <a:t>08</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dirty="0">
                          <a:solidFill>
                            <a:schemeClr val="tx1"/>
                          </a:solidFill>
                        </a:rPr>
                        <a:t>Unsafe gas, worker inside</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b="1" dirty="0">
                          <a:solidFill>
                            <a:schemeClr val="accent3"/>
                          </a:solidFill>
                        </a:rPr>
                        <a:t>ABORTED</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r>
              <a:tr h="310896">
                <a:tc>
                  <a:txBody>
                    <a:bodyPr/>
                    <a:lstStyle/>
                    <a:p>
                      <a:pPr algn="ctr" indent="0" marL="0">
                        <a:buNone/>
                      </a:pPr>
                      <a:r>
                        <a:rPr lang="en-US" sz="1100" b="1" dirty="0">
                          <a:solidFill>
                            <a:schemeClr val="tx1"/>
                          </a:solidFill>
                        </a:rPr>
                        <a:t>09</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dirty="0">
                          <a:solidFill>
                            <a:schemeClr val="tx1"/>
                          </a:solidFill>
                        </a:rPr>
                        <a:t>Scan run again</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b="1" dirty="0">
                          <a:solidFill>
                            <a:schemeClr val="accent3"/>
                          </a:solidFill>
                        </a:rPr>
                        <a:t>0 new</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r>
              <a:tr h="310896">
                <a:tc>
                  <a:txBody>
                    <a:bodyPr/>
                    <a:lstStyle/>
                    <a:p>
                      <a:pPr algn="ctr" indent="0" marL="0">
                        <a:buNone/>
                      </a:pPr>
                      <a:r>
                        <a:rPr lang="en-US" sz="1100" b="1" dirty="0">
                          <a:solidFill>
                            <a:schemeClr val="tx1"/>
                          </a:solidFill>
                        </a:rPr>
                        <a:t>10</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dirty="0">
                          <a:solidFill>
                            <a:schemeClr val="tx1"/>
                          </a:solidFill>
                        </a:rPr>
                        <a:t>Late evidence</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b="1" dirty="0">
                          <a:solidFill>
                            <a:schemeClr val="accent3"/>
                          </a:solidFill>
                        </a:rPr>
                        <a:t>TO REVIEW</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r>
            </a:tbl>
          </a:graphicData>
        </a:graphic>
      </p:graphicFrame>
      <p:graphicFrame>
        <p:nvGraphicFramePr>
          <p:cNvPr id="27" name="summary-2"/>
          <p:cNvGraphicFramePr>
            <a:graphicFrameLocks noGrp="1"/>
          </p:cNvGraphicFramePr>
          <p:nvPr>
            <p:extLst>
              <p:ext uri="{D42A27DB-BD31-4B8C-83A1-F6EECF244321}">
                <p14:modId xmlns:p14="http://schemas.microsoft.com/office/powerpoint/2010/main" val="1579011935"/>
              </p:ext>
            </p:extLst>
          </p:nvPr>
        </p:nvGraphicFramePr>
        <p:xfrm>
          <a:off x="4663440" y="1051560"/>
          <a:ext cx="4023360" cy="914400"/>
        </p:xfrm>
        <a:graphic>
          <a:graphicData uri="http://schemas.openxmlformats.org/drawingml/2006/table">
            <a:tbl>
              <a:tblPr/>
              <a:tblGrid>
                <a:gridCol w="365760"/>
                <a:gridCol w="2423160"/>
                <a:gridCol w="1234440"/>
              </a:tblGrid>
              <a:tr h="310896">
                <a:tc>
                  <a:txBody>
                    <a:bodyPr/>
                    <a:lstStyle/>
                    <a:p>
                      <a:pPr indent="0" marL="0">
                        <a:buNone/>
                      </a:pPr>
                      <a:r>
                        <a:rPr lang="en-US" sz="1100" b="1" dirty="0">
                          <a:solidFill>
                            <a:schemeClr val="bg1"/>
                          </a:solidFill>
                        </a:rPr>
                        <a:t>#</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Situation</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Reaction</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solidFill>
                      <a:schemeClr val="tx2"/>
                    </a:solidFill>
                  </a:tcPr>
                </a:tc>
              </a:tr>
              <a:tr h="310896">
                <a:tc>
                  <a:txBody>
                    <a:bodyPr/>
                    <a:lstStyle/>
                    <a:p>
                      <a:pPr algn="ctr" indent="0" marL="0">
                        <a:buNone/>
                      </a:pPr>
                      <a:r>
                        <a:rPr lang="en-US" sz="1100" b="1" dirty="0">
                          <a:solidFill>
                            <a:schemeClr val="tx1"/>
                          </a:solidFill>
                        </a:rPr>
                        <a:t>11</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dirty="0">
                          <a:solidFill>
                            <a:schemeClr val="tx1"/>
                          </a:solidFill>
                        </a:rPr>
                        <a:t>Engineer dismisses</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b="1" dirty="0">
                          <a:solidFill>
                            <a:schemeClr val="accent3"/>
                          </a:solidFill>
                        </a:rPr>
                        <a:t>OWN HOLD</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r>
              <a:tr h="310896">
                <a:tc>
                  <a:txBody>
                    <a:bodyPr/>
                    <a:lstStyle/>
                    <a:p>
                      <a:pPr algn="ctr" indent="0" marL="0">
                        <a:buNone/>
                      </a:pPr>
                      <a:r>
                        <a:rPr lang="en-US" sz="1100" b="1" dirty="0">
                          <a:solidFill>
                            <a:schemeClr val="tx1"/>
                          </a:solidFill>
                        </a:rPr>
                        <a:t>12</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dirty="0">
                          <a:solidFill>
                            <a:schemeClr val="tx1"/>
                          </a:solidFill>
                        </a:rPr>
                        <a:t>Supervisor decides</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b="1" dirty="0">
                          <a:solidFill>
                            <a:schemeClr val="accent2"/>
                          </a:solidFill>
                        </a:rPr>
                        <a:t>ZE006</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r>
              <a:tr h="310896">
                <a:tc>
                  <a:txBody>
                    <a:bodyPr/>
                    <a:lstStyle/>
                    <a:p>
                      <a:pPr algn="ctr" indent="0" marL="0">
                        <a:buNone/>
                      </a:pPr>
                      <a:r>
                        <a:rPr lang="en-US" sz="1100" b="1" dirty="0">
                          <a:solidFill>
                            <a:schemeClr val="tx1"/>
                          </a:solidFill>
                        </a:rPr>
                        <a:t>13</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dirty="0">
                          <a:solidFill>
                            <a:schemeClr val="tx1"/>
                          </a:solidFill>
                        </a:rPr>
                        <a:t>Approve held invoice</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b="1" dirty="0">
                          <a:solidFill>
                            <a:schemeClr val="accent2"/>
                          </a:solidFill>
                        </a:rPr>
                        <a:t>ZE003</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r>
              <a:tr h="310896">
                <a:tc>
                  <a:txBody>
                    <a:bodyPr/>
                    <a:lstStyle/>
                    <a:p>
                      <a:pPr algn="ctr" indent="0" marL="0">
                        <a:buNone/>
                      </a:pPr>
                      <a:r>
                        <a:rPr lang="en-US" sz="1100" b="1" dirty="0">
                          <a:solidFill>
                            <a:schemeClr val="tx1"/>
                          </a:solidFill>
                        </a:rPr>
                        <a:t>14</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dirty="0">
                          <a:solidFill>
                            <a:schemeClr val="tx1"/>
                          </a:solidFill>
                        </a:rPr>
                        <a:t>Fatality recorded</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b="1" dirty="0">
                          <a:solidFill>
                            <a:schemeClr val="accent3"/>
                          </a:solidFill>
                        </a:rPr>
                        <a:t>ATOMIC</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r>
              <a:tr h="310896">
                <a:tc>
                  <a:txBody>
                    <a:bodyPr/>
                    <a:lstStyle/>
                    <a:p>
                      <a:pPr algn="ctr" indent="0" marL="0">
                        <a:buNone/>
                      </a:pPr>
                      <a:r>
                        <a:rPr lang="en-US" sz="1100" b="1" dirty="0">
                          <a:solidFill>
                            <a:schemeClr val="tx1"/>
                          </a:solidFill>
                        </a:rPr>
                        <a:t>15</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dirty="0">
                          <a:solidFill>
                            <a:schemeClr val="tx1"/>
                          </a:solidFill>
                        </a:rPr>
                        <a:t>Procedure fails half-way</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b="1" dirty="0">
                          <a:solidFill>
                            <a:schemeClr val="accent2"/>
                          </a:solidFill>
                        </a:rPr>
                        <a:t>ROLLBACK</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r>
              <a:tr h="310896">
                <a:tc>
                  <a:txBody>
                    <a:bodyPr/>
                    <a:lstStyle/>
                    <a:p>
                      <a:pPr algn="ctr" indent="0" marL="0">
                        <a:buNone/>
                      </a:pPr>
                      <a:r>
                        <a:rPr lang="en-US" sz="1100" b="1" dirty="0">
                          <a:solidFill>
                            <a:schemeClr val="tx1"/>
                          </a:solidFill>
                        </a:rPr>
                        <a:t>16</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dirty="0">
                          <a:solidFill>
                            <a:schemeClr val="tx1"/>
                          </a:solidFill>
                        </a:rPr>
                        <a:t>Crew race during decision</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b="1" dirty="0">
                          <a:solidFill>
                            <a:schemeClr val="accent2"/>
                          </a:solidFill>
                        </a:rPr>
                        <a:t>WAIT, ZE003</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r>
              <a:tr h="310896">
                <a:tc>
                  <a:txBody>
                    <a:bodyPr/>
                    <a:lstStyle/>
                    <a:p>
                      <a:pPr algn="ctr" indent="0" marL="0">
                        <a:buNone/>
                      </a:pPr>
                      <a:r>
                        <a:rPr lang="en-US" sz="1100" b="1" dirty="0">
                          <a:solidFill>
                            <a:schemeClr val="tx1"/>
                          </a:solidFill>
                        </a:rPr>
                        <a:t>17</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dirty="0">
                          <a:solidFill>
                            <a:schemeClr val="tx1"/>
                          </a:solidFill>
                        </a:rPr>
                        <a:t>Double payment race</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b="1" dirty="0">
                          <a:solidFill>
                            <a:schemeClr val="accent2"/>
                          </a:solidFill>
                        </a:rPr>
                        <a:t>WAIT, ZE002</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r>
              <a:tr h="310896">
                <a:tc>
                  <a:txBody>
                    <a:bodyPr/>
                    <a:lstStyle/>
                    <a:p>
                      <a:pPr algn="ctr" indent="0" marL="0">
                        <a:buNone/>
                      </a:pPr>
                      <a:r>
                        <a:rPr lang="en-US" sz="1100" b="1" dirty="0">
                          <a:solidFill>
                            <a:schemeClr val="tx1"/>
                          </a:solidFill>
                        </a:rPr>
                        <a:t>18</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dirty="0">
                          <a:solidFill>
                            <a:schemeClr val="tx1"/>
                          </a:solidFill>
                        </a:rPr>
                        <a:t>Who sees which permits</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b="1" dirty="0">
                          <a:solidFill>
                            <a:schemeClr val="accent3"/>
                          </a:solidFill>
                        </a:rPr>
                        <a:t>RLS</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r>
              <a:tr h="310896">
                <a:tc>
                  <a:txBody>
                    <a:bodyPr/>
                    <a:lstStyle/>
                    <a:p>
                      <a:pPr algn="ctr" indent="0" marL="0">
                        <a:buNone/>
                      </a:pPr>
                      <a:r>
                        <a:rPr lang="en-US" sz="1100" b="1" dirty="0">
                          <a:solidFill>
                            <a:schemeClr val="tx1"/>
                          </a:solidFill>
                        </a:rPr>
                        <a:t>19</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dirty="0">
                          <a:solidFill>
                            <a:schemeClr val="tx1"/>
                          </a:solidFill>
                        </a:rPr>
                        <a:t>App role rewrites history</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c>
                  <a:txBody>
                    <a:bodyPr/>
                    <a:lstStyle/>
                    <a:p>
                      <a:pPr indent="0" marL="0">
                        <a:buNone/>
                      </a:pPr>
                      <a:r>
                        <a:rPr lang="en-US" sz="1100" b="1" dirty="0">
                          <a:solidFill>
                            <a:schemeClr val="accent2"/>
                          </a:solidFill>
                        </a:rPr>
                        <a:t>42501</a:t>
                      </a:r>
                      <a:endParaRPr lang="en-US" sz="1100" dirty="0"/>
                    </a:p>
                  </a:txBody>
                  <a:tcPr marL="91440" marR="91440" marT="45720" marB="45720" anchor="ctr">
                    <a:lnL w="6350" cap="flat" cmpd="sng" algn="ctr">
                      <a:solidFill>
                        <a:srgbClr val="D9DED8"/>
                      </a:solidFill>
                      <a:prstDash val="solid"/>
                      <a:round/>
                      <a:headEnd type="none" w="med" len="med"/>
                      <a:tailEnd type="none" w="med" len="med"/>
                    </a:lnL>
                    <a:lnR w="6350" cap="flat" cmpd="sng" algn="ctr">
                      <a:solidFill>
                        <a:srgbClr val="D9DED8"/>
                      </a:solidFill>
                      <a:prstDash val="solid"/>
                      <a:round/>
                      <a:headEnd type="none" w="med" len="med"/>
                      <a:tailEnd type="none" w="med" len="med"/>
                    </a:lnR>
                    <a:lnT w="6350" cap="flat" cmpd="sng" algn="ctr">
                      <a:solidFill>
                        <a:srgbClr val="D9DED8"/>
                      </a:solidFill>
                      <a:prstDash val="solid"/>
                      <a:round/>
                      <a:headEnd type="none" w="med" len="med"/>
                      <a:tailEnd type="none" w="med" len="med"/>
                    </a:lnT>
                    <a:lnB w="6350" cap="flat" cmpd="sng" algn="ctr">
                      <a:solidFill>
                        <a:srgbClr val="D9DED8"/>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371600"/>
          </a:xfrm>
          <a:prstGeom prst="rect">
            <a:avLst/>
          </a:prstGeom>
          <a:noFill/>
          <a:ln/>
        </p:spPr>
        <p:txBody>
          <a:bodyPr wrap="square" rtlCol="0" anchor="b"/>
          <a:lstStyle/>
          <a:p>
            <a:pPr algn="l" indent="0" marL="0">
              <a:buNone/>
            </a:pPr>
            <a:r>
              <a:rPr lang="en-US" sz="3800" b="1" dirty="0">
                <a:solidFill>
                  <a:schemeClr val="bg1"/>
                </a:solidFill>
                <a:latin typeface="Cambria" pitchFamily="34" charset="0"/>
                <a:ea typeface="Cambria" pitchFamily="34" charset="-122"/>
                <a:cs typeface="Cambria" pitchFamily="34" charset="-120"/>
              </a:rPr>
              <a:t>The database decides; the app only asks</a:t>
            </a:r>
            <a:endParaRPr lang="en-US" sz="3800" dirty="0"/>
          </a:p>
        </p:txBody>
      </p:sp>
      <p:sp>
        <p:nvSpPr>
          <p:cNvPr id="3" name="Text 0"/>
          <p:cNvSpPr/>
          <p:nvPr>
            <p:ph idx="101" type="body" hasCustomPrompt="1"/>
          </p:nvPr>
        </p:nvSpPr>
        <p:spPr>
          <a:xfrm>
            <a:off x="548640" y="2880360"/>
            <a:ext cx="8046720" cy="1097280"/>
          </a:xfrm>
          <a:prstGeom prst="rect">
            <a:avLst/>
          </a:prstGeom>
          <a:noFill/>
          <a:ln/>
        </p:spPr>
        <p:txBody>
          <a:bodyPr wrap="square" rtlCol="0" anchor="t"/>
          <a:lstStyle/>
          <a:p>
            <a:pPr indent="0" marL="0">
              <a:buNone/>
            </a:pPr>
            <a:r>
              <a:rPr lang="en-US" sz="1600" b="1" dirty="0">
                <a:solidFill>
                  <a:schemeClr val="accent1"/>
                </a:solidFill>
              </a:rPr>
              <a:t>Run it yourself:  python run.py showcase</a:t>
            </a:r>
            <a:endParaRPr lang="en-US" sz="1600" dirty="0"/>
          </a:p>
          <a:p>
            <a:pPr indent="0" marL="0">
              <a:buNone/>
            </a:pPr>
            <a:r>
              <a:rPr lang="en-US" sz="1600" dirty="0">
                <a:solidFill>
                  <a:schemeClr val="bg2"/>
                </a:solidFill>
              </a:rPr>
              <a:t>Enforces recorded evidence, not physics. All data synthetic. A database superuser could still disable triggers.</a:t>
            </a:r>
            <a:endParaRPr lang="en-US" sz="1600" dirty="0"/>
          </a:p>
        </p:txBody>
      </p:sp>
    </p:spTree>
  </p:cSld>
  <p:clrMapOvr>
    <a:masterClrMapping/>
  </p:clrMapOvr>
</p:sld>
</file>

<file path=ppt/theme/theme1.xml><?xml version="1.0" encoding="utf-8"?>
<a:theme xmlns:a="http://schemas.openxmlformats.org/drawingml/2006/main" name="ZeroEntry Safety Console">
  <a:themeElements>
    <a:clrScheme name="ZeroEntry Safety Console">
      <a:dk1>
        <a:srgbClr val="1E272C"/>
      </a:dk1>
      <a:lt1>
        <a:srgbClr val="FFFFFF"/>
      </a:lt1>
      <a:dk2>
        <a:srgbClr val="2F3E46"/>
      </a:dk2>
      <a:lt2>
        <a:srgbClr val="EEF0EC"/>
      </a:lt2>
      <a:accent1>
        <a:srgbClr val="E8A317"/>
      </a:accent1>
      <a:accent2>
        <a:srgbClr val="B23A2E"/>
      </a:accent2>
      <a:accent3>
        <a:srgbClr val="2E7D4F"/>
      </a:accent3>
      <a:accent4>
        <a:srgbClr val="5B7B8A"/>
      </a:accent4>
      <a:accent5>
        <a:srgbClr val="8A9A9E"/>
      </a:accent5>
      <a:accent6>
        <a:srgbClr val="D9DED8"/>
      </a:accent6>
      <a:hlink>
        <a:srgbClr val="1F6F8B"/>
      </a:hlink>
      <a:folHlink>
        <a:srgbClr val="5B7B8A"/>
      </a:folHlink>
    </a:clrScheme>
    <a:fontScheme name="ZeroEntry Safety Conso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ZeroEntry: how the database reacts</dc:title>
  <dc:subject>PptxGenJS Presentation</dc:subject>
  <dc:creator>ZeroEntry team</dc:creator>
  <cp:lastModifiedBy>ZeroEntry team</cp:lastModifiedBy>
  <cp:revision>1</cp:revision>
  <dcterms:created xsi:type="dcterms:W3CDTF">2026-10-07T19:00:05Z</dcterms:created>
  <dcterms:modified xsi:type="dcterms:W3CDTF">2026-10-07T19:00:05Z</dcterms:modified>
</cp:coreProperties>
</file>